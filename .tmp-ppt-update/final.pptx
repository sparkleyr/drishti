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e149c963cb4267" /><Relationship Type="http://schemas.openxmlformats.org/officeDocument/2006/relationships/extended-properties" Target="/docProps/app.xml" Id="Rd28dec977f8a4ccf" /><Relationship Type="http://schemas.openxmlformats.org/officeDocument/2006/relationships/officeDocument" Target="/ppt/presentation.xml" Id="R6ac024d221774159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8293fad640814d5d"/>
  </p:sldMasterIdLst>
  <p:notesMasterIdLst>
    <p:notesMasterId xmlns:r="http://schemas.openxmlformats.org/officeDocument/2006/relationships" r:id="R8c8e992baf93413b"/>
  </p:notesMasterIdLst>
  <p:sldIdLst>
    <p:sldId xmlns:r="http://schemas.openxmlformats.org/officeDocument/2006/relationships" id="256" r:id="R07740b95b3b540f5"/>
    <p:sldId xmlns:r="http://schemas.openxmlformats.org/officeDocument/2006/relationships" id="257" r:id="R366aea67c43a4b12"/>
    <p:sldId xmlns:r="http://schemas.openxmlformats.org/officeDocument/2006/relationships" id="258" r:id="R24e0defa5f114a8c"/>
    <p:sldId xmlns:r="http://schemas.openxmlformats.org/officeDocument/2006/relationships" id="259" r:id="R3fc2abeeacbd4a4a"/>
    <p:sldId xmlns:r="http://schemas.openxmlformats.org/officeDocument/2006/relationships" id="260" r:id="Rf86b560638554282"/>
    <p:sldId xmlns:r="http://schemas.openxmlformats.org/officeDocument/2006/relationships" id="261" r:id="Rd75fb759d74e4974"/>
    <p:sldId xmlns:r="http://schemas.openxmlformats.org/officeDocument/2006/relationships" id="262" r:id="Rc9974bad54874117"/>
    <p:sldId xmlns:r="http://schemas.openxmlformats.org/officeDocument/2006/relationships" id="263" r:id="Rebd2d4b37f784ce9"/>
    <p:sldId xmlns:r="http://schemas.openxmlformats.org/officeDocument/2006/relationships" id="264" r:id="Rb0905f8ae6d74c78"/>
  </p:sldIdLst>
  <p:sldSz cx="12192000" cy="6858000"/>
  <p:notesSz cx="6858000" cy="9144000"/>
  <p:embeddedFontLst>
    <p:embeddedFont>
      <p:font typeface="Arial Black"/>
      <p:bold xmlns:r="http://schemas.openxmlformats.org/officeDocument/2006/relationships" r:id="R353fb14aa38a44b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D47496C2-0CEE-4B0A-BE6E-AE1266184CF1}">
  <a:tblStyle styleId="{D47496C2-0CEE-4B0A-BE6E-AE1266184CF1}" styleName="Table_0">
    <a:wholeTbl>
      <a:tcTxStyle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983a2d6ec5460a" /><Relationship Type="http://schemas.openxmlformats.org/officeDocument/2006/relationships/slideMaster" Target="/ppt/slideMasters/slideMaster1.xml" Id="R8293fad640814d5d" /><Relationship Type="http://schemas.openxmlformats.org/officeDocument/2006/relationships/notesMaster" Target="/ppt/notesMasters/notesMaster1.xml" Id="R8c8e992baf93413b" /><Relationship Type="http://schemas.openxmlformats.org/officeDocument/2006/relationships/presProps" Target="/ppt/presProps.xml" Id="R7286ce48ed404a2a" /><Relationship Type="http://schemas.openxmlformats.org/officeDocument/2006/relationships/viewProps" Target="/ppt/viewProps.xml" Id="R0c9ad942f1a74ddc" /><Relationship Type="http://schemas.openxmlformats.org/officeDocument/2006/relationships/tableStyles" Target="/ppt/tableStyles.xml" Id="Raf1130befc334e23" /><Relationship Type="http://schemas.openxmlformats.org/officeDocument/2006/relationships/font" Target="/ppt/fonts/font.dat" Id="R353fb14aa38a44b5" /><Relationship Type="http://schemas.openxmlformats.org/officeDocument/2006/relationships/slide" Target="/ppt/slides/slide1.xml" Id="R07740b95b3b540f5" /><Relationship Type="http://schemas.openxmlformats.org/officeDocument/2006/relationships/slide" Target="/ppt/slides/slide2.xml" Id="R366aea67c43a4b12" /><Relationship Type="http://schemas.openxmlformats.org/officeDocument/2006/relationships/slide" Target="/ppt/slides/slide3.xml" Id="R24e0defa5f114a8c" /><Relationship Type="http://schemas.openxmlformats.org/officeDocument/2006/relationships/slide" Target="/ppt/slides/slide4.xml" Id="R3fc2abeeacbd4a4a" /><Relationship Type="http://schemas.openxmlformats.org/officeDocument/2006/relationships/slide" Target="/ppt/slides/slide5.xml" Id="Rf86b560638554282" /><Relationship Type="http://schemas.openxmlformats.org/officeDocument/2006/relationships/slide" Target="/ppt/slides/slide6.xml" Id="Rd75fb759d74e4974" /><Relationship Type="http://schemas.openxmlformats.org/officeDocument/2006/relationships/slide" Target="/ppt/slides/slide7.xml" Id="Rc9974bad54874117" /><Relationship Type="http://schemas.openxmlformats.org/officeDocument/2006/relationships/slide" Target="/ppt/slides/slide8.xml" Id="Rebd2d4b37f784ce9" /><Relationship Type="http://schemas.openxmlformats.org/officeDocument/2006/relationships/slide" Target="/ppt/slides/slide9.xml" Id="Rb0905f8ae6d74c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e9356d3b3c43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ed6ea5d6a746e9" /><Relationship Type="http://schemas.openxmlformats.org/officeDocument/2006/relationships/notesMaster" Target="/ppt/notesMasters/notesMaster1.xml" Id="R6e05c17fa9af41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8d4219644448c2" /><Relationship Type="http://schemas.openxmlformats.org/officeDocument/2006/relationships/notesMaster" Target="/ppt/notesMasters/notesMaster1.xml" Id="Rfd1401d8e2ce40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44b14ffcbb4a6c" /><Relationship Type="http://schemas.openxmlformats.org/officeDocument/2006/relationships/notesMaster" Target="/ppt/notesMasters/notesMaster1.xml" Id="Ra631e8f8cd8345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cd890a9ad448cc" /><Relationship Type="http://schemas.openxmlformats.org/officeDocument/2006/relationships/notesMaster" Target="/ppt/notesMasters/notesMaster1.xml" Id="R2ca76c7b54d246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e64c2e94104425" /><Relationship Type="http://schemas.openxmlformats.org/officeDocument/2006/relationships/notesMaster" Target="/ppt/notesMasters/notesMaster1.xml" Id="R97e0018804cc41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49dc45d75343b0" /><Relationship Type="http://schemas.openxmlformats.org/officeDocument/2006/relationships/notesMaster" Target="/ppt/notesMasters/notesMaster1.xml" Id="Rb04789f89ca74e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e9e9c259ce470e" /><Relationship Type="http://schemas.openxmlformats.org/officeDocument/2006/relationships/notesMaster" Target="/ppt/notesMasters/notesMaster1.xml" Id="R5c38bf53596b4a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eeb3ac69084a8b" /><Relationship Type="http://schemas.openxmlformats.org/officeDocument/2006/relationships/notesMaster" Target="/ppt/notesMasters/notesMaster1.xml" Id="R068d9ab8f58d49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ea734e67934d1c" /><Relationship Type="http://schemas.openxmlformats.org/officeDocument/2006/relationships/notesMaster" Target="/ppt/notesMasters/notesMaster1.xml" Id="R0f325baf6ebe47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Cover: fill TRACK, PROJECT TITLE, ONE-LINE PITCH and TEAM names. Phone &amp; email for each member goes on the last slide, frame 09. Keep layout, colours &amp; logos as-is. RECURSION is TechnoVIT's flagship hackathon.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Answer each question in 2–3 plain lines. Someone outside your track should understand every answer.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Name the product plainly. The three answers should connect directly back to the problems on frame 02.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Replace the placeholder flow with your real architecture diagram. Name real services and models, then answer the three questions.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Be honest about scope. A working slice with a known limit beats an over-promised demo.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Pick one primary metric. Show how it was measured — an estimate is fine if you show your working.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One source per line — papers, repos, docs, datasets, model weights. Uncredited work is disqualifying.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Optional space: demo links, screenshots, GitHub, QR codes, anything extra that strengthens the submission. Delete the checklist sticker and the hint line once you're done.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List every member's phone and email so organisers and judges can follow up after the round. This slide is for the submission file — remove it if presenting live on stage.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e7a5d819b4ae0" /></Relationships>
</file>

<file path=ppt/slideLayouts/slideLayout1.xml><?xml version="1.0" encoding="utf-8"?>
<p:sldLayout xmlns:p="http://schemas.openxmlformats.org/presentationml/2006/main" showMasterPhAnim="0" matchingName="DEFAULT" userDrawn="1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a5b99e71364cb1" /><Relationship Type="http://schemas.openxmlformats.org/officeDocument/2006/relationships/slideLayout" Target="/ppt/slideLayouts/slideLayout1.xml" Id="R885ba352ed8444c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5ba352ed8444c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7323338624d0a" /><Relationship Type="http://schemas.openxmlformats.org/officeDocument/2006/relationships/notesSlide" Target="/ppt/notesSlides/notesSlide1.xml" Id="Rf66cf5651e7640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67b4f416c4945" /><Relationship Type="http://schemas.openxmlformats.org/officeDocument/2006/relationships/notesSlide" Target="/ppt/notesSlides/notesSlide2.xml" Id="R154ecadcb4b245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c6eb9ac564063" /><Relationship Type="http://schemas.openxmlformats.org/officeDocument/2006/relationships/notesSlide" Target="/ppt/notesSlides/notesSlide3.xml" Id="R18515d7f597a47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ae74be4824d58" /><Relationship Type="http://schemas.openxmlformats.org/officeDocument/2006/relationships/notesSlide" Target="/ppt/notesSlides/notesSlide4.xml" Id="Rb7159f6b3e214e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601f77e454234" /><Relationship Type="http://schemas.openxmlformats.org/officeDocument/2006/relationships/notesSlide" Target="/ppt/notesSlides/notesSlide5.xml" Id="R8caed34dc30846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296bda3b74bcb" /><Relationship Type="http://schemas.openxmlformats.org/officeDocument/2006/relationships/notesSlide" Target="/ppt/notesSlides/notesSlide6.xml" Id="R71090dff1dea4a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3d83d2e354ce3" /><Relationship Type="http://schemas.openxmlformats.org/officeDocument/2006/relationships/notesSlide" Target="/ppt/notesSlides/notesSlide7.xml" Id="R6a1128ea653f42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348b250f742a0" /><Relationship Type="http://schemas.openxmlformats.org/officeDocument/2006/relationships/image" Target="/ppt/media/image.jpeg" Id="Rce14f195c71d4ca7" /><Relationship Type="http://schemas.openxmlformats.org/officeDocument/2006/relationships/notesSlide" Target="/ppt/notesSlides/notesSlide8.xml" Id="Rd01d51c8dad94f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37a5c5ca14db6" /><Relationship Type="http://schemas.openxmlformats.org/officeDocument/2006/relationships/notesSlide" Target="/ppt/notesSlides/notesSlide9.xml" Id="R530be23c94cc45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3559507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90978F2B-BC8D-4F3C-8429-8F025734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06987558" name="Google Shape;13;p1"/>
          <p:cNvCxnSpPr/>
          <p:nvPr/>
        </p:nvCxnSpPr>
        <p:spPr>
          <a:xfrm xmlns:a="http://schemas.openxmlformats.org/drawingml/2006/main">
            <a:off x="694944" y="274320"/>
            <a:ext cx="0" cy="29260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06987559" name="Google Shape;14;p1"/>
          <p:cNvCxnSpPr/>
          <p:nvPr/>
        </p:nvCxnSpPr>
        <p:spPr>
          <a:xfrm xmlns:a="http://schemas.openxmlformats.org/drawingml/2006/main">
            <a:off x="694944" y="420624"/>
            <a:ext cx="146304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4002986" name="Google Shape;15;p1">
            <a:extLst xmlns:a="http://schemas.openxmlformats.org/drawingml/2006/main">
              <a:ext uri="{FF2B5EF4-FFF2-40B4-BE49-F238E27FC236}">
                <a16:creationId xmlns:a16="http://schemas.microsoft.com/office/drawing/2014/main" id="{146877D1-11C0-40AB-A3D9-AD47A87C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29184"/>
            <a:ext cx="47548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FLAGSHIP MIC HACKATHON OF TECHNOVIT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275505" name="Google Shape;16;p1">
            <a:extLst xmlns:a="http://schemas.openxmlformats.org/drawingml/2006/main">
              <a:ext uri="{FF2B5EF4-FFF2-40B4-BE49-F238E27FC236}">
                <a16:creationId xmlns:a16="http://schemas.microsoft.com/office/drawing/2014/main" id="{AE5005BD-386D-47CB-8890-3B8D4A23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184"/>
            <a:ext cx="39776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IDEA SUBMISSION — TEMPLATE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9578563" name="Google Shape;17;p1">
            <a:extLst xmlns:a="http://schemas.openxmlformats.org/drawingml/2006/main">
              <a:ext uri="{FF2B5EF4-FFF2-40B4-BE49-F238E27FC236}">
                <a16:creationId xmlns:a16="http://schemas.microsoft.com/office/drawing/2014/main" id="{B4BA3D4D-9BD1-427C-91E2-28C5B46C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14400"/>
            <a:ext cx="7543800" cy="1207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1016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555834" name="Google Shape;18;p1">
            <a:extLst xmlns:a="http://schemas.openxmlformats.org/drawingml/2006/main">
              <a:ext uri="{FF2B5EF4-FFF2-40B4-BE49-F238E27FC236}">
                <a16:creationId xmlns:a16="http://schemas.microsoft.com/office/drawing/2014/main" id="{F955CA32-F20B-495E-8D0A-4B07A97F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60120"/>
            <a:ext cx="7223760" cy="1115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800"/>
              <a:buFont typeface="Arial Black"/>
              <a:buNone/>
            </a:pPr>
            <a:r>
              <a:rPr sz="6800" b="0" i="0" u="none" cap="none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RECURSION</a:t>
            </a:r>
            <a:endParaRPr sz="6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4176378" name="Google Shape;19;p1">
            <a:extLst xmlns:a="http://schemas.openxmlformats.org/drawingml/2006/main">
              <a:ext uri="{FF2B5EF4-FFF2-40B4-BE49-F238E27FC236}">
                <a16:creationId xmlns:a16="http://schemas.microsoft.com/office/drawing/2014/main" id="{431DF18E-234D-4030-9D25-9E38CDD0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9999">
            <a:off x="8458200" y="1078992"/>
            <a:ext cx="19659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76200" dir="2700000" algn="bl" rotWithShape="0">
              <a:srgbClr val="FF3D1F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21027" name="Google Shape;20;p1">
            <a:extLst xmlns:a="http://schemas.openxmlformats.org/drawingml/2006/main">
              <a:ext uri="{FF2B5EF4-FFF2-40B4-BE49-F238E27FC236}">
                <a16:creationId xmlns:a16="http://schemas.microsoft.com/office/drawing/2014/main" id="{B1E9F2F6-259C-4897-9735-E499319F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9999">
            <a:off x="8458200" y="1088136"/>
            <a:ext cx="19659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500"/>
              <a:buFont typeface="Arial Black"/>
              <a:buNone/>
            </a:pPr>
            <a:r>
              <a:rPr sz="1500" b="0" i="0" u="none" cap="none">
                <a:solidFill>
                  <a:srgbClr val="FAF4E8"/>
                </a:solidFill>
                <a:latin typeface="Arial Black"/>
                <a:ea typeface="Arial Black"/>
                <a:cs typeface="Arial Black"/>
              </a:rPr>
              <a:t>EDITION II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59781688" name="Google Shape;21;p1">
            <a:extLst xmlns:a="http://schemas.openxmlformats.org/drawingml/2006/main">
              <a:ext uri="{FF2B5EF4-FFF2-40B4-BE49-F238E27FC236}">
                <a16:creationId xmlns:a16="http://schemas.microsoft.com/office/drawing/2014/main" id="{7B950B0F-6E00-49F4-816B-1D6AC3D8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896112"/>
            <a:ext cx="841248" cy="84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175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06987567" name="Google Shape;22;p1"/>
          <p:cNvCxnSpPr/>
          <p:nvPr/>
        </p:nvCxnSpPr>
        <p:spPr>
          <a:xfrm xmlns:a="http://schemas.openxmlformats.org/drawingml/2006/main">
            <a:off x="11256264" y="896112"/>
            <a:ext cx="0" cy="841248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06987568" name="Google Shape;23;p1"/>
          <p:cNvCxnSpPr/>
          <p:nvPr/>
        </p:nvCxnSpPr>
        <p:spPr>
          <a:xfrm xmlns:a="http://schemas.openxmlformats.org/drawingml/2006/main">
            <a:off x="11256264" y="1316736"/>
            <a:ext cx="420624" cy="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06987569" name="Google Shape;24;p1"/>
          <p:cNvCxnSpPr/>
          <p:nvPr/>
        </p:nvCxnSpPr>
        <p:spPr>
          <a:xfrm xmlns:a="http://schemas.openxmlformats.org/drawingml/2006/main">
            <a:off x="11466576" y="1316736"/>
            <a:ext cx="0" cy="420624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06987570" name="Google Shape;25;p1"/>
          <p:cNvCxnSpPr/>
          <p:nvPr/>
        </p:nvCxnSpPr>
        <p:spPr>
          <a:xfrm xmlns:a="http://schemas.openxmlformats.org/drawingml/2006/main">
            <a:off x="11466576" y="1527048"/>
            <a:ext cx="210312" cy="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6543669" name="Google Shape;26;p1">
            <a:extLst xmlns:a="http://schemas.openxmlformats.org/drawingml/2006/main">
              <a:ext uri="{FF2B5EF4-FFF2-40B4-BE49-F238E27FC236}">
                <a16:creationId xmlns:a16="http://schemas.microsoft.com/office/drawing/2014/main" id="{A05D3772-ECA0-4F5F-A79B-EF0C555F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95728"/>
            <a:ext cx="6858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to understand recursion, first understand recursion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49506595" name="Google Shape;27;p1">
            <a:extLst xmlns:a="http://schemas.openxmlformats.org/drawingml/2006/main">
              <a:ext uri="{FF2B5EF4-FFF2-40B4-BE49-F238E27FC236}">
                <a16:creationId xmlns:a16="http://schemas.microsoft.com/office/drawing/2014/main" id="{074E9800-17E9-4A3B-AFD4-2E738790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07792"/>
            <a:ext cx="7269480" cy="3127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889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554435" name="Google Shape;28;p1">
            <a:extLst xmlns:a="http://schemas.openxmlformats.org/drawingml/2006/main">
              <a:ext uri="{FF2B5EF4-FFF2-40B4-BE49-F238E27FC236}">
                <a16:creationId xmlns:a16="http://schemas.microsoft.com/office/drawing/2014/main" id="{5EBE399B-EAD0-44DF-9DFC-5A4CE85A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218688"/>
            <a:ext cx="12801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1905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963335" name="Google Shape;29;p1">
            <a:extLst xmlns:a="http://schemas.openxmlformats.org/drawingml/2006/main">
              <a:ext uri="{FF2B5EF4-FFF2-40B4-BE49-F238E27FC236}">
                <a16:creationId xmlns:a16="http://schemas.microsoft.com/office/drawing/2014/main" id="{C2C41D77-9881-4535-832A-7F18A978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182112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TITLE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6467051" name="Google Shape;30;p1">
            <a:extLst xmlns:a="http://schemas.openxmlformats.org/drawingml/2006/main">
              <a:ext uri="{FF2B5EF4-FFF2-40B4-BE49-F238E27FC236}">
                <a16:creationId xmlns:a16="http://schemas.microsoft.com/office/drawing/2014/main" id="{F3E0449B-FF3B-4103-8DF3-C128106B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456432"/>
            <a:ext cx="6583680" cy="3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 Black"/>
              <a:buNone/>
            </a:pPr>
            <a:r>
              <a:rPr sz="1400" b="0" i="0" u="none" cap="none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DRISHTI - Local AI Safety Assistance for Indoor Hall Mobility</a:t>
            </a:r>
            <a:endParaRPr sz="1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06987576" name="Google Shape;31;p1"/>
          <p:cNvCxnSpPr/>
          <p:nvPr/>
        </p:nvCxnSpPr>
        <p:spPr>
          <a:xfrm xmlns:a="http://schemas.openxmlformats.org/drawingml/2006/main">
            <a:off x="896112" y="3888728"/>
            <a:ext cx="65836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5823899" name="Google Shape;32;p1">
            <a:extLst xmlns:a="http://schemas.openxmlformats.org/drawingml/2006/main">
              <a:ext uri="{FF2B5EF4-FFF2-40B4-BE49-F238E27FC236}">
                <a16:creationId xmlns:a16="http://schemas.microsoft.com/office/drawing/2014/main" id="{62048569-E3B0-4351-971E-44CE1FFF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08184"/>
            <a:ext cx="12801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344765" name="Google Shape;33;p1">
            <a:extLst xmlns:a="http://schemas.openxmlformats.org/drawingml/2006/main">
              <a:ext uri="{FF2B5EF4-FFF2-40B4-BE49-F238E27FC236}">
                <a16:creationId xmlns:a16="http://schemas.microsoft.com/office/drawing/2014/main" id="{CE154706-0FB2-4307-90DE-0789399E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071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ONE-LINE PITCH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7296645" name="Google Shape;34;p1">
            <a:extLst xmlns:a="http://schemas.openxmlformats.org/drawingml/2006/main">
              <a:ext uri="{FF2B5EF4-FFF2-40B4-BE49-F238E27FC236}">
                <a16:creationId xmlns:a16="http://schemas.microsoft.com/office/drawing/2014/main" id="{EC36988A-BFFC-462B-9DB9-7881B519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327640"/>
            <a:ext cx="65836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50"/>
              <a:buFont typeface="Arial"/>
              <a:buNone/>
            </a:pPr>
            <a:r>
              <a:rPr sz="1250" b="0" i="1" u="none" cap="none">
                <a:solidFill>
                  <a:srgbClr val="6E6A5E"/>
                </a:solidFill>
                <a:latin typeface="Arial"/>
                <a:ea typeface="Arial"/>
                <a:cs typeface="Arial"/>
              </a:rPr>
              <a:t>A local indoor safety assistant with live guidance, on-demand OCR/VLM, and hall hazard intelligence.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06987580" name="Google Shape;35;p1"/>
          <p:cNvCxnSpPr/>
          <p:nvPr/>
        </p:nvCxnSpPr>
        <p:spPr>
          <a:xfrm xmlns:a="http://schemas.openxmlformats.org/drawingml/2006/main">
            <a:off x="896112" y="4711688"/>
            <a:ext cx="65836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8297419" name="Google Shape;36;p1">
            <a:extLst xmlns:a="http://schemas.openxmlformats.org/drawingml/2006/main">
              <a:ext uri="{FF2B5EF4-FFF2-40B4-BE49-F238E27FC236}">
                <a16:creationId xmlns:a16="http://schemas.microsoft.com/office/drawing/2014/main" id="{B93B6C53-30B2-457F-99B3-C2FD04C3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931144"/>
            <a:ext cx="12801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1905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75227" name="Google Shape;37;p1">
            <a:extLst xmlns:a="http://schemas.openxmlformats.org/drawingml/2006/main">
              <a:ext uri="{FF2B5EF4-FFF2-40B4-BE49-F238E27FC236}">
                <a16:creationId xmlns:a16="http://schemas.microsoft.com/office/drawing/2014/main" id="{D3020B14-421C-4F41-8277-3C3AFD97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89456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111111"/>
                </a:solidFill>
                <a:latin typeface="Arial"/>
                <a:ea typeface="Arial"/>
                <a:cs typeface="Arial"/>
              </a:rPr>
              <a:t>TRACK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2319602" name="Google Shape;38;p1">
            <a:extLst xmlns:a="http://schemas.openxmlformats.org/drawingml/2006/main">
              <a:ext uri="{FF2B5EF4-FFF2-40B4-BE49-F238E27FC236}">
                <a16:creationId xmlns:a16="http://schemas.microsoft.com/office/drawing/2014/main" id="{40C913D5-96CC-415E-9037-3CAE5CE1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150600"/>
            <a:ext cx="658368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 Black"/>
              <a:buNone/>
            </a:pPr>
            <a:r>
              <a:rPr sz="1500" b="0" i="0" u="none" cap="none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Smart Living - PS1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06987584" name="Google Shape;39;p1"/>
          <p:cNvCxnSpPr/>
          <p:nvPr/>
        </p:nvCxnSpPr>
        <p:spPr>
          <a:xfrm xmlns:a="http://schemas.openxmlformats.org/drawingml/2006/main">
            <a:off x="896112" y="5779008"/>
            <a:ext cx="65836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4568447" name="Google Shape;40;p1">
            <a:extLst xmlns:a="http://schemas.openxmlformats.org/drawingml/2006/main">
              <a:ext uri="{FF2B5EF4-FFF2-40B4-BE49-F238E27FC236}">
                <a16:creationId xmlns:a16="http://schemas.microsoft.com/office/drawing/2014/main" id="{34CC8178-5556-48A8-9144-DEB23F31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907792"/>
            <a:ext cx="3502152" cy="3127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88900" dir="2700000" algn="bl" rotWithShape="0">
              <a:srgbClr val="FF3D1F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5055852" name="Google Shape;41;p1">
            <a:extLst xmlns:a="http://schemas.openxmlformats.org/drawingml/2006/main">
              <a:ext uri="{FF2B5EF4-FFF2-40B4-BE49-F238E27FC236}">
                <a16:creationId xmlns:a16="http://schemas.microsoft.com/office/drawing/2014/main" id="{CE558BDF-3713-44F2-A784-8D2AD325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12724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FAF4E8"/>
                </a:solidFill>
                <a:latin typeface="Arial"/>
                <a:ea typeface="Arial"/>
                <a:cs typeface="Arial"/>
              </a:rPr>
              <a:t>TEAM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0009557" name="Google Shape;42;p1">
            <a:extLst xmlns:a="http://schemas.openxmlformats.org/drawingml/2006/main">
              <a:ext uri="{FF2B5EF4-FFF2-40B4-BE49-F238E27FC236}">
                <a16:creationId xmlns:a16="http://schemas.microsoft.com/office/drawing/2014/main" id="{CD56C54D-A4D5-4D8E-AA01-97EB9E81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346704"/>
            <a:ext cx="292608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600"/>
              <a:buFont typeface="Arial Black"/>
              <a:buNone/>
            </a:pPr>
            <a:r>
              <a:rPr sz="1600" b="0" i="0" u="none" cap="none">
                <a:solidFill>
                  <a:srgbClr val="FAF4E8"/>
                </a:solidFill>
                <a:latin typeface="Arial Black"/>
                <a:ea typeface="Arial Black"/>
                <a:cs typeface="Arial Black"/>
              </a:rPr>
              <a:t>62 - Hallucinators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06987588" name="Google Shape;43;p1"/>
          <p:cNvCxnSpPr/>
          <p:nvPr/>
        </p:nvCxnSpPr>
        <p:spPr>
          <a:xfrm xmlns:a="http://schemas.openxmlformats.org/drawingml/2006/main">
            <a:off x="8430768" y="3822192"/>
            <a:ext cx="29260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AF4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6230863" name="Google Shape;44;p1">
            <a:extLst xmlns:a="http://schemas.openxmlformats.org/drawingml/2006/main">
              <a:ext uri="{FF2B5EF4-FFF2-40B4-BE49-F238E27FC236}">
                <a16:creationId xmlns:a16="http://schemas.microsoft.com/office/drawing/2014/main" id="{43AAFE9B-0075-4037-A324-4816CEE6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950208"/>
            <a:ext cx="3017519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FAF4E8"/>
                </a:solidFill>
                <a:latin typeface="Courier New"/>
                <a:ea typeface="Courier New"/>
                <a:cs typeface="Courier New"/>
              </a:rPr>
              <a:t>Madhav Khurana - AI/ML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0414994" name="Google Shape;45;p1">
            <a:extLst xmlns:a="http://schemas.openxmlformats.org/drawingml/2006/main">
              <a:ext uri="{FF2B5EF4-FFF2-40B4-BE49-F238E27FC236}">
                <a16:creationId xmlns:a16="http://schemas.microsoft.com/office/drawing/2014/main" id="{3C146178-3912-4025-9335-90DD4D0E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251960"/>
            <a:ext cx="3017519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FAF4E8"/>
                </a:solidFill>
                <a:latin typeface="Courier New"/>
                <a:ea typeface="Courier New"/>
                <a:cs typeface="Courier New"/>
              </a:rPr>
              <a:t>Yash Raj - Backend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3559112" name="Google Shape;46;p1">
            <a:extLst xmlns:a="http://schemas.openxmlformats.org/drawingml/2006/main">
              <a:ext uri="{FF2B5EF4-FFF2-40B4-BE49-F238E27FC236}">
                <a16:creationId xmlns:a16="http://schemas.microsoft.com/office/drawing/2014/main" id="{541804BA-BDDA-4FC7-9CF5-D0564DB4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553712"/>
            <a:ext cx="3017519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FAF4E8"/>
                </a:solidFill>
                <a:latin typeface="Courier New"/>
                <a:ea typeface="Courier New"/>
                <a:cs typeface="Courier New"/>
              </a:rPr>
              <a:t>Aryan Raj - Frontend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06987592" name="Google Shape;49;p1"/>
          <p:cNvCxnSpPr/>
          <p:nvPr/>
        </p:nvCxnSpPr>
        <p:spPr>
          <a:xfrm xmlns:a="http://schemas.openxmlformats.org/drawingml/2006/main">
            <a:off x="8430768" y="4937760"/>
            <a:ext cx="29260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AF4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6987556" name="Google Shape;50;p1">
            <a:extLst xmlns:a="http://schemas.openxmlformats.org/drawingml/2006/main">
              <a:ext uri="{FF2B5EF4-FFF2-40B4-BE49-F238E27FC236}">
                <a16:creationId xmlns:a16="http://schemas.microsoft.com/office/drawing/2014/main" id="{F0BDF3F9-B95B-4D05-9DE5-8F847AB0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5029200"/>
            <a:ext cx="3017519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00"/>
              <a:buFont typeface="Courier New"/>
              <a:buNone/>
            </a:pPr>
            <a:r>
              <a:rPr sz="900" b="0" i="0" u="none" cap="none">
                <a:solidFill>
                  <a:srgbClr val="FAF4E8"/>
                </a:solidFill>
                <a:latin typeface="Courier New"/>
                <a:ea typeface="Courier New"/>
                <a:cs typeface="Courier New"/>
              </a:rPr>
              <a:t>full contact sheet → frame 09</a:t>
            </a: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78440969" name="Google Shape;51;p1">
            <a:extLst xmlns:a="http://schemas.openxmlformats.org/drawingml/2006/main">
              <a:ext uri="{FF2B5EF4-FFF2-40B4-BE49-F238E27FC236}">
                <a16:creationId xmlns:a16="http://schemas.microsoft.com/office/drawing/2014/main" id="{167A7751-0418-4114-B34F-8F41C682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81344"/>
            <a:ext cx="59436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06987595" name="Google Shape;52;p1"/>
          <p:cNvCxnSpPr/>
          <p:nvPr/>
        </p:nvCxnSpPr>
        <p:spPr>
          <a:xfrm xmlns:a="http://schemas.openxmlformats.org/drawingml/2006/main">
            <a:off x="548640" y="6455664"/>
            <a:ext cx="1109441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275431" name="Google Shape;53;p1">
            <a:extLst xmlns:a="http://schemas.openxmlformats.org/drawingml/2006/main">
              <a:ext uri="{FF2B5EF4-FFF2-40B4-BE49-F238E27FC236}">
                <a16:creationId xmlns:a16="http://schemas.microsoft.com/office/drawing/2014/main" id="{EBB8BD70-5E8E-422B-B3A5-CD716B6A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855" y="6547104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 b="0" i="0" u="none" cap="none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FRAME 01 / 09</a:t>
            </a:r>
            <a:endParaRPr sz="8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9612228" name="Google Shape;54;p1">
            <a:extLst xmlns:a="http://schemas.openxmlformats.org/drawingml/2006/main">
              <a:ext uri="{FF2B5EF4-FFF2-40B4-BE49-F238E27FC236}">
                <a16:creationId xmlns:a16="http://schemas.microsoft.com/office/drawing/2014/main" id="{B526CAE6-561D-4FD5-BE18-5EC7DBB0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37744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635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427897" name="Google Shape;55;p1">
            <a:extLst xmlns:a="http://schemas.openxmlformats.org/drawingml/2006/main">
              <a:ext uri="{FF2B5EF4-FFF2-40B4-BE49-F238E27FC236}">
                <a16:creationId xmlns:a16="http://schemas.microsoft.com/office/drawing/2014/main" id="{6C579F81-E339-48C7-A193-D4A94187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46888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sz="1700" b="0" i="0" u="none" cap="none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01</a:t>
            </a:r>
            <a:endParaRPr sz="1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9412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15356894" name="Google Shape;61;p2">
            <a:extLst xmlns:a="http://schemas.openxmlformats.org/drawingml/2006/main">
              <a:ext uri="{FF2B5EF4-FFF2-40B4-BE49-F238E27FC236}">
                <a16:creationId xmlns:a16="http://schemas.microsoft.com/office/drawing/2014/main" id="{7D0663D3-851A-4F0C-9934-643DA5BF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15356896" name="Google Shape;62;p2"/>
          <p:cNvCxnSpPr/>
          <p:nvPr/>
        </p:nvCxnSpPr>
        <p:spPr>
          <a:xfrm xmlns:a="http://schemas.openxmlformats.org/drawingml/2006/main">
            <a:off x="694944" y="274320"/>
            <a:ext cx="0" cy="29260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15356897" name="Google Shape;63;p2"/>
          <p:cNvCxnSpPr/>
          <p:nvPr/>
        </p:nvCxnSpPr>
        <p:spPr>
          <a:xfrm xmlns:a="http://schemas.openxmlformats.org/drawingml/2006/main">
            <a:off x="694944" y="420624"/>
            <a:ext cx="146304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7408771" name="Google Shape;64;p2">
            <a:extLst xmlns:a="http://schemas.openxmlformats.org/drawingml/2006/main">
              <a:ext uri="{FF2B5EF4-FFF2-40B4-BE49-F238E27FC236}">
                <a16:creationId xmlns:a16="http://schemas.microsoft.com/office/drawing/2014/main" id="{7AEDF70D-A57D-4039-9775-423731EA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29184"/>
            <a:ext cx="38404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sz="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RECURSION </a:t>
            </a:r>
            <a:r>
              <a:rPr sz="950" b="1">
                <a:solidFill>
                  <a:srgbClr val="111111"/>
                </a:solidFill>
              </a:rPr>
              <a:t>- </a:t>
            </a:r>
            <a:r>
              <a:rPr sz="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7277736" name="Google Shape;65;p2">
            <a:extLst xmlns:a="http://schemas.openxmlformats.org/drawingml/2006/main">
              <a:ext uri="{FF2B5EF4-FFF2-40B4-BE49-F238E27FC236}">
                <a16:creationId xmlns:a16="http://schemas.microsoft.com/office/drawing/2014/main" id="{A84500CE-521C-4639-AB88-EDA0D0FA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37744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635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4190180" name="Google Shape;66;p2">
            <a:extLst xmlns:a="http://schemas.openxmlformats.org/drawingml/2006/main">
              <a:ext uri="{FF2B5EF4-FFF2-40B4-BE49-F238E27FC236}">
                <a16:creationId xmlns:a16="http://schemas.microsoft.com/office/drawing/2014/main" id="{40E46C87-2462-47D7-81A0-50BBB89E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46888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sz="17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015356901" name="Google Shape;67;p2"/>
          <p:cNvCxnSpPr/>
          <p:nvPr/>
        </p:nvCxnSpPr>
        <p:spPr>
          <a:xfrm xmlns:a="http://schemas.openxmlformats.org/drawingml/2006/main">
            <a:off x="548640" y="6455664"/>
            <a:ext cx="1109441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05343985" name="Google Shape;68;p2">
            <a:extLst xmlns:a="http://schemas.openxmlformats.org/drawingml/2006/main">
              <a:ext uri="{FF2B5EF4-FFF2-40B4-BE49-F238E27FC236}">
                <a16:creationId xmlns:a16="http://schemas.microsoft.com/office/drawing/2014/main" id="{3D21799B-7BA6-4CEA-A8BF-B2447C30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47104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8270263" name="Google Shape;69;p2">
            <a:extLst xmlns:a="http://schemas.openxmlformats.org/drawingml/2006/main">
              <a:ext uri="{FF2B5EF4-FFF2-40B4-BE49-F238E27FC236}">
                <a16:creationId xmlns:a16="http://schemas.microsoft.com/office/drawing/2014/main" id="{E36939F6-E2D0-46DB-BB16-EEB0AD7E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855" y="6547104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FRAME 02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21088990" name="Google Shape;70;p2">
            <a:extLst xmlns:a="http://schemas.openxmlformats.org/drawingml/2006/main">
              <a:ext uri="{FF2B5EF4-FFF2-40B4-BE49-F238E27FC236}">
                <a16:creationId xmlns:a16="http://schemas.microsoft.com/office/drawing/2014/main" id="{66EB4171-CCB9-4E5F-B7D2-66A91718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sz="30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PROBLEM DEFINITION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1442790" name="Google Shape;71;p2">
            <a:extLst xmlns:a="http://schemas.openxmlformats.org/drawingml/2006/main">
              <a:ext uri="{FF2B5EF4-FFF2-40B4-BE49-F238E27FC236}">
                <a16:creationId xmlns:a16="http://schemas.microsoft.com/office/drawing/2014/main" id="{814D6800-88DB-4362-9199-A6FBC27F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9692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sz="100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answer in 2–3 lines · readable outside your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75669099" name="Google Shape;72;p2">
            <a:extLst xmlns:a="http://schemas.openxmlformats.org/drawingml/2006/main">
              <a:ext uri="{FF2B5EF4-FFF2-40B4-BE49-F238E27FC236}">
                <a16:creationId xmlns:a16="http://schemas.microsoft.com/office/drawing/2014/main" id="{6CE7758A-8476-458D-914C-E0B729D4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93392"/>
            <a:ext cx="5468112" cy="1975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762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991659" name="Google Shape;73;p2">
            <a:extLst xmlns:a="http://schemas.openxmlformats.org/drawingml/2006/main">
              <a:ext uri="{FF2B5EF4-FFF2-40B4-BE49-F238E27FC236}">
                <a16:creationId xmlns:a16="http://schemas.microsoft.com/office/drawing/2014/main" id="{01D1E042-FD8A-47BF-894F-3B6E7686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67712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070314" name="Google Shape;74;p2">
            <a:extLst xmlns:a="http://schemas.openxmlformats.org/drawingml/2006/main">
              <a:ext uri="{FF2B5EF4-FFF2-40B4-BE49-F238E27FC236}">
                <a16:creationId xmlns:a16="http://schemas.microsoft.com/office/drawing/2014/main" id="{89512EE8-07F4-44BE-A3FA-02E80B1E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7685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sz="13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778179" name="Google Shape;75;p2">
            <a:extLst xmlns:a="http://schemas.openxmlformats.org/drawingml/2006/main">
              <a:ext uri="{FF2B5EF4-FFF2-40B4-BE49-F238E27FC236}">
                <a16:creationId xmlns:a16="http://schemas.microsoft.com/office/drawing/2014/main" id="{85F2889E-C051-40A3-992F-3C5A2524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04288"/>
            <a:ext cx="437083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sz="135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WHO &amp; HOW OFTEN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4774141" name="Google Shape;76;p2">
            <a:extLst xmlns:a="http://schemas.openxmlformats.org/drawingml/2006/main">
              <a:ext uri="{FF2B5EF4-FFF2-40B4-BE49-F238E27FC236}">
                <a16:creationId xmlns:a16="http://schemas.microsoft.com/office/drawing/2014/main" id="{6D428D93-93A6-4453-B3F4-DCD32606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62072"/>
            <a:ext cx="4919471" cy="923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sz="115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Students, staff &amp; visitors with low vision or mobility challenges, plus anyone momentarily distracted - every time they navigate an unfamiliar indoor corridor, stairwell, or crowded common area.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44777892" name="Google Shape;77;p2">
            <a:extLst xmlns:a="http://schemas.openxmlformats.org/drawingml/2006/main">
              <a:ext uri="{FF2B5EF4-FFF2-40B4-BE49-F238E27FC236}">
                <a16:creationId xmlns:a16="http://schemas.microsoft.com/office/drawing/2014/main" id="{AF98B1BA-71A6-411A-9084-D1EE2369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93392"/>
            <a:ext cx="5468112" cy="1975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762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101336" name="Google Shape;78;p2">
            <a:extLst xmlns:a="http://schemas.openxmlformats.org/drawingml/2006/main">
              <a:ext uri="{FF2B5EF4-FFF2-40B4-BE49-F238E27FC236}">
                <a16:creationId xmlns:a16="http://schemas.microsoft.com/office/drawing/2014/main" id="{2C835901-F03D-4CDA-BCD6-704FAAE6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267712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2655370" name="Google Shape;79;p2">
            <a:extLst xmlns:a="http://schemas.openxmlformats.org/drawingml/2006/main">
              <a:ext uri="{FF2B5EF4-FFF2-40B4-BE49-F238E27FC236}">
                <a16:creationId xmlns:a16="http://schemas.microsoft.com/office/drawing/2014/main" id="{4474CD74-4F6D-4843-A2DC-B21001D2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27685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sz="13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9026793" name="Google Shape;80;p2">
            <a:extLst xmlns:a="http://schemas.openxmlformats.org/drawingml/2006/main">
              <a:ext uri="{FF2B5EF4-FFF2-40B4-BE49-F238E27FC236}">
                <a16:creationId xmlns:a16="http://schemas.microsoft.com/office/drawing/2014/main" id="{92B99179-7FDD-4B27-B302-A90B312B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2304288"/>
            <a:ext cx="437083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sz="135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TODAY'S WORKAROUND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7621765" name="Google Shape;81;p2">
            <a:extLst xmlns:a="http://schemas.openxmlformats.org/drawingml/2006/main">
              <a:ext uri="{FF2B5EF4-FFF2-40B4-BE49-F238E27FC236}">
                <a16:creationId xmlns:a16="http://schemas.microsoft.com/office/drawing/2014/main" id="{7406005A-A552-4614-A309-38458528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62072"/>
            <a:ext cx="4919471" cy="923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sz="115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A white cane, guide dog, or sighted companion - or an ad-hoc phone call/in-person report to facilities after a hazard is already spotted.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81652050" name="Google Shape;82;p2">
            <a:extLst xmlns:a="http://schemas.openxmlformats.org/drawingml/2006/main">
              <a:ext uri="{FF2B5EF4-FFF2-40B4-BE49-F238E27FC236}">
                <a16:creationId xmlns:a16="http://schemas.microsoft.com/office/drawing/2014/main" id="{34A1A620-E53C-4906-A065-133EF26A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97680"/>
            <a:ext cx="5468112" cy="1975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762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8169136" name="Google Shape;83;p2">
            <a:extLst xmlns:a="http://schemas.openxmlformats.org/drawingml/2006/main">
              <a:ext uri="{FF2B5EF4-FFF2-40B4-BE49-F238E27FC236}">
                <a16:creationId xmlns:a16="http://schemas.microsoft.com/office/drawing/2014/main" id="{D7EAC11C-49A1-47BB-BDEB-B48FA81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7200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566274" name="Google Shape;84;p2">
            <a:extLst xmlns:a="http://schemas.openxmlformats.org/drawingml/2006/main">
              <a:ext uri="{FF2B5EF4-FFF2-40B4-BE49-F238E27FC236}">
                <a16:creationId xmlns:a16="http://schemas.microsoft.com/office/drawing/2014/main" id="{435EB8ED-982E-401B-A8D0-712343E7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8114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sz="13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5070345" name="Google Shape;85;p2">
            <a:extLst xmlns:a="http://schemas.openxmlformats.org/drawingml/2006/main">
              <a:ext uri="{FF2B5EF4-FFF2-40B4-BE49-F238E27FC236}">
                <a16:creationId xmlns:a16="http://schemas.microsoft.com/office/drawing/2014/main" id="{56B8CFC8-6331-46D3-A321-BE275907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8576"/>
            <a:ext cx="437083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sz="135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WHY IT FALLS SHORT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7713921" name="Google Shape;86;p2">
            <a:extLst xmlns:a="http://schemas.openxmlformats.org/drawingml/2006/main">
              <a:ext uri="{FF2B5EF4-FFF2-40B4-BE49-F238E27FC236}">
                <a16:creationId xmlns:a16="http://schemas.microsoft.com/office/drawing/2014/main" id="{C4E17CC0-8CD4-4C48-9DCC-2B6DFEA1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66360"/>
            <a:ext cx="4919471" cy="923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sz="115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None of these share real-time evidence with anyone else, so verifying and fixing a hazard still depends on someone finding the right person to tell.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1247553" name="Google Shape;87;p2">
            <a:extLst xmlns:a="http://schemas.openxmlformats.org/drawingml/2006/main">
              <a:ext uri="{FF2B5EF4-FFF2-40B4-BE49-F238E27FC236}">
                <a16:creationId xmlns:a16="http://schemas.microsoft.com/office/drawing/2014/main" id="{1FCAE733-8AC7-487B-A378-2D548BB2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4297680"/>
            <a:ext cx="5468112" cy="1975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762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466456" name="Google Shape;88;p2">
            <a:extLst xmlns:a="http://schemas.openxmlformats.org/drawingml/2006/main">
              <a:ext uri="{FF2B5EF4-FFF2-40B4-BE49-F238E27FC236}">
                <a16:creationId xmlns:a16="http://schemas.microsoft.com/office/drawing/2014/main" id="{FE43E3ED-2E06-46F1-80F7-8E0FF0F3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457200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246682" name="Google Shape;89;p2">
            <a:extLst xmlns:a="http://schemas.openxmlformats.org/drawingml/2006/main">
              <a:ext uri="{FF2B5EF4-FFF2-40B4-BE49-F238E27FC236}">
                <a16:creationId xmlns:a16="http://schemas.microsoft.com/office/drawing/2014/main" id="{6D949AA8-1CC7-4F6E-B551-E3C92939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458114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sz="13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5827767" name="Google Shape;90;p2">
            <a:extLst xmlns:a="http://schemas.openxmlformats.org/drawingml/2006/main">
              <a:ext uri="{FF2B5EF4-FFF2-40B4-BE49-F238E27FC236}">
                <a16:creationId xmlns:a16="http://schemas.microsoft.com/office/drawing/2014/main" id="{25D31286-FCA4-4D64-B513-398C5801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4608576"/>
            <a:ext cx="437083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sz="135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EVIDENCE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82969485" name="Google Shape;91;p2">
            <a:extLst xmlns:a="http://schemas.openxmlformats.org/drawingml/2006/main">
              <a:ext uri="{FF2B5EF4-FFF2-40B4-BE49-F238E27FC236}">
                <a16:creationId xmlns:a16="http://schemas.microsoft.com/office/drawing/2014/main" id="{240A9FBE-3E74-40A4-81F0-6F67FC67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5166360"/>
            <a:ext cx="4919471" cy="923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sz="115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MIC VIT Chennai's own PS1 brief names delayed hazard detection, weak sensor-to-response communication, and manual safety intervention as open problems in IoT &amp; Smart Living.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47350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4270521" name="Google Shape;97;p3">
            <a:extLst xmlns:a="http://schemas.openxmlformats.org/drawingml/2006/main">
              <a:ext uri="{FF2B5EF4-FFF2-40B4-BE49-F238E27FC236}">
                <a16:creationId xmlns:a16="http://schemas.microsoft.com/office/drawing/2014/main" id="{5D5A0B7B-2535-430F-95E2-523A9798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86081374" name="Google Shape;98;p3"/>
          <p:cNvCxnSpPr/>
          <p:nvPr/>
        </p:nvCxnSpPr>
        <p:spPr>
          <a:xfrm xmlns:a="http://schemas.openxmlformats.org/drawingml/2006/main">
            <a:off x="694944" y="274320"/>
            <a:ext cx="0" cy="29260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86081375" name="Google Shape;99;p3"/>
          <p:cNvCxnSpPr/>
          <p:nvPr/>
        </p:nvCxnSpPr>
        <p:spPr>
          <a:xfrm xmlns:a="http://schemas.openxmlformats.org/drawingml/2006/main">
            <a:off x="694944" y="420624"/>
            <a:ext cx="146304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0302071" name="Google Shape;100;p3">
            <a:extLst xmlns:a="http://schemas.openxmlformats.org/drawingml/2006/main">
              <a:ext uri="{FF2B5EF4-FFF2-40B4-BE49-F238E27FC236}">
                <a16:creationId xmlns:a16="http://schemas.microsoft.com/office/drawing/2014/main" id="{D67D2B9B-3949-4E43-B701-901BEA50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29184"/>
            <a:ext cx="38404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sz="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8363360" name="Google Shape;101;p3">
            <a:extLst xmlns:a="http://schemas.openxmlformats.org/drawingml/2006/main">
              <a:ext uri="{FF2B5EF4-FFF2-40B4-BE49-F238E27FC236}">
                <a16:creationId xmlns:a16="http://schemas.microsoft.com/office/drawing/2014/main" id="{51095DCB-A4F7-4DD6-A29B-1F8369BF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37744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635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322891" name="Google Shape;102;p3">
            <a:extLst xmlns:a="http://schemas.openxmlformats.org/drawingml/2006/main">
              <a:ext uri="{FF2B5EF4-FFF2-40B4-BE49-F238E27FC236}">
                <a16:creationId xmlns:a16="http://schemas.microsoft.com/office/drawing/2014/main" id="{7D09E2B7-4474-479F-9944-888A1C7C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46888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sz="17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986081379" name="Google Shape;103;p3"/>
          <p:cNvCxnSpPr/>
          <p:nvPr/>
        </p:nvCxnSpPr>
        <p:spPr>
          <a:xfrm xmlns:a="http://schemas.openxmlformats.org/drawingml/2006/main">
            <a:off x="548640" y="6455664"/>
            <a:ext cx="1109441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4129315" name="Google Shape;104;p3">
            <a:extLst xmlns:a="http://schemas.openxmlformats.org/drawingml/2006/main">
              <a:ext uri="{FF2B5EF4-FFF2-40B4-BE49-F238E27FC236}">
                <a16:creationId xmlns:a16="http://schemas.microsoft.com/office/drawing/2014/main" id="{E4849C3B-EA92-4DF2-AF60-A8644738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47104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68637" name="Google Shape;105;p3">
            <a:extLst xmlns:a="http://schemas.openxmlformats.org/drawingml/2006/main">
              <a:ext uri="{FF2B5EF4-FFF2-40B4-BE49-F238E27FC236}">
                <a16:creationId xmlns:a16="http://schemas.microsoft.com/office/drawing/2014/main" id="{DC774ADB-54CC-4109-BD1D-8D5B6D7E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855" y="6547104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FRAME 03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4192383" name="Google Shape;106;p3">
            <a:extLst xmlns:a="http://schemas.openxmlformats.org/drawingml/2006/main">
              <a:ext uri="{FF2B5EF4-FFF2-40B4-BE49-F238E27FC236}">
                <a16:creationId xmlns:a16="http://schemas.microsoft.com/office/drawing/2014/main" id="{EB406E7F-7B16-4888-BCE5-6C270909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sz="30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PROPOSED SOLUTION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0374009" name="Google Shape;107;p3">
            <a:extLst xmlns:a="http://schemas.openxmlformats.org/drawingml/2006/main">
              <a:ext uri="{FF2B5EF4-FFF2-40B4-BE49-F238E27FC236}">
                <a16:creationId xmlns:a16="http://schemas.microsoft.com/office/drawing/2014/main" id="{3DD42957-61AE-4AFC-9296-F974B086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9692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sz="100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name it plainly · connect straight back to frame 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345589" name="Google Shape;108;p3">
            <a:extLst xmlns:a="http://schemas.openxmlformats.org/drawingml/2006/main">
              <a:ext uri="{FF2B5EF4-FFF2-40B4-BE49-F238E27FC236}">
                <a16:creationId xmlns:a16="http://schemas.microsoft.com/office/drawing/2014/main" id="{EFABE5E0-B36C-4D02-85D1-0291289C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3931920" cy="40416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889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862361" name="Google Shape;109;p3">
            <a:extLst xmlns:a="http://schemas.openxmlformats.org/drawingml/2006/main">
              <a:ext uri="{FF2B5EF4-FFF2-40B4-BE49-F238E27FC236}">
                <a16:creationId xmlns:a16="http://schemas.microsoft.com/office/drawing/2014/main" id="{1746C7AA-1F0B-438B-BCAD-AC678027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32918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sz="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/ SYSTEM 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0542945" name="Google Shape;110;p3">
            <a:extLst xmlns:a="http://schemas.openxmlformats.org/drawingml/2006/main">
              <a:ext uri="{FF2B5EF4-FFF2-40B4-BE49-F238E27FC236}">
                <a16:creationId xmlns:a16="http://schemas.microsoft.com/office/drawing/2014/main" id="{6E15C2A9-43AB-4E84-8595-D0D6724A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70048"/>
            <a:ext cx="329184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 Black"/>
              <a:buNone/>
            </a:pPr>
            <a:r>
              <a:rPr sz="21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DRISHTI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986081387" name="Google Shape;111;p3"/>
          <p:cNvCxnSpPr/>
          <p:nvPr/>
        </p:nvCxnSpPr>
        <p:spPr>
          <a:xfrm xmlns:a="http://schemas.openxmlformats.org/drawingml/2006/main">
            <a:off x="868680" y="4069080"/>
            <a:ext cx="329184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1423301" name="Google Shape;112;p3">
            <a:extLst xmlns:a="http://schemas.openxmlformats.org/drawingml/2006/main">
              <a:ext uri="{FF2B5EF4-FFF2-40B4-BE49-F238E27FC236}">
                <a16:creationId xmlns:a16="http://schemas.microsoft.com/office/drawing/2014/main" id="{0157A3E8-3F1B-4005-AD69-16E2AD88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51960"/>
            <a:ext cx="329184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3A362E"/>
              </a:buClr>
              <a:buSzPts val="1150"/>
              <a:buFont typeface="Arial"/>
              <a:buNone/>
            </a:pPr>
            <a:r>
              <a:rPr sz="1150" i="1">
                <a:solidFill>
                  <a:srgbClr val="3A362E"/>
                </a:solidFill>
                <a:latin typeface="Arial"/>
                <a:ea typeface="Arial"/>
                <a:cs typeface="Arial"/>
              </a:rPr>
              <a:t>A phone-camera safety assistant: local edge AI turns a live hall view into cautious walking guidance, on-demand OCR/VLM answers, and recurring hazard intelligence.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2520679" name="Google Shape;113;p3">
            <a:extLst xmlns:a="http://schemas.openxmlformats.org/drawingml/2006/main">
              <a:ext uri="{FF2B5EF4-FFF2-40B4-BE49-F238E27FC236}">
                <a16:creationId xmlns:a16="http://schemas.microsoft.com/office/drawing/2014/main" id="{5AAFBD8C-5227-478D-8A25-88925A59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321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86081390" name="Google Shape;114;p3"/>
          <p:cNvCxnSpPr/>
          <p:nvPr/>
        </p:nvCxnSpPr>
        <p:spPr>
          <a:xfrm xmlns:a="http://schemas.openxmlformats.org/drawingml/2006/main">
            <a:off x="1060704" y="5532120"/>
            <a:ext cx="0" cy="38404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86081391" name="Google Shape;115;p3"/>
          <p:cNvCxnSpPr/>
          <p:nvPr/>
        </p:nvCxnSpPr>
        <p:spPr>
          <a:xfrm xmlns:a="http://schemas.openxmlformats.org/drawingml/2006/main">
            <a:off x="1060704" y="5724144"/>
            <a:ext cx="192024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9851066" name="Google Shape;116;p3">
            <a:extLst xmlns:a="http://schemas.openxmlformats.org/drawingml/2006/main">
              <a:ext uri="{FF2B5EF4-FFF2-40B4-BE49-F238E27FC236}">
                <a16:creationId xmlns:a16="http://schemas.microsoft.com/office/drawing/2014/main" id="{AAE94860-178E-489F-9C87-795A57B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39" y="2057400"/>
            <a:ext cx="674827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762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501429" name="Google Shape;117;p3">
            <a:extLst xmlns:a="http://schemas.openxmlformats.org/drawingml/2006/main">
              <a:ext uri="{FF2B5EF4-FFF2-40B4-BE49-F238E27FC236}">
                <a16:creationId xmlns:a16="http://schemas.microsoft.com/office/drawing/2014/main" id="{E6487AAE-A9A2-4BBD-8100-21E8F2FA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2295144"/>
            <a:ext cx="3657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976598" name="Google Shape;118;p3">
            <a:extLst xmlns:a="http://schemas.openxmlformats.org/drawingml/2006/main">
              <a:ext uri="{FF2B5EF4-FFF2-40B4-BE49-F238E27FC236}">
                <a16:creationId xmlns:a16="http://schemas.microsoft.com/office/drawing/2014/main" id="{121CA61C-8ABC-4815-9ECF-768BAA66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2304288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sz="13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7400570" name="Google Shape;119;p3">
            <a:extLst xmlns:a="http://schemas.openxmlformats.org/drawingml/2006/main">
              <a:ext uri="{FF2B5EF4-FFF2-40B4-BE49-F238E27FC236}">
                <a16:creationId xmlns:a16="http://schemas.microsoft.com/office/drawing/2014/main" id="{E5D59472-DBDE-463E-824A-5A8BCC1C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13432"/>
            <a:ext cx="5742432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sz="125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WHAT A USER DOES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6798702" name="Google Shape;120;p3">
            <a:extLst xmlns:a="http://schemas.openxmlformats.org/drawingml/2006/main">
              <a:ext uri="{FF2B5EF4-FFF2-40B4-BE49-F238E27FC236}">
                <a16:creationId xmlns:a16="http://schemas.microsoft.com/office/drawing/2014/main" id="{E979AAC1-505E-486A-97A7-FA96DBC0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715768"/>
            <a:ext cx="569671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sz="115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Points the phone camera at the walking area; DRISHTI speaks/vibrates a cautious action (CAUTION, MOVE_LEFT, MOVE_RIGHT, STOP, PAUSE_UNCLEAR). The user can also tap to report a confirmed hazard or read visible text on demand.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8059646" name="Google Shape;121;p3">
            <a:extLst xmlns:a="http://schemas.openxmlformats.org/drawingml/2006/main">
              <a:ext uri="{FF2B5EF4-FFF2-40B4-BE49-F238E27FC236}">
                <a16:creationId xmlns:a16="http://schemas.microsoft.com/office/drawing/2014/main" id="{ABFAEF52-D34A-4378-9FB3-5304D8FB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39" y="3465576"/>
            <a:ext cx="674827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762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013274" name="Google Shape;122;p3">
            <a:extLst xmlns:a="http://schemas.openxmlformats.org/drawingml/2006/main">
              <a:ext uri="{FF2B5EF4-FFF2-40B4-BE49-F238E27FC236}">
                <a16:creationId xmlns:a16="http://schemas.microsoft.com/office/drawing/2014/main" id="{2B3ECBD6-2DC0-40EF-A427-2B2791D8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3703320"/>
            <a:ext cx="3657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528263" name="Google Shape;123;p3">
            <a:extLst xmlns:a="http://schemas.openxmlformats.org/drawingml/2006/main">
              <a:ext uri="{FF2B5EF4-FFF2-40B4-BE49-F238E27FC236}">
                <a16:creationId xmlns:a16="http://schemas.microsoft.com/office/drawing/2014/main" id="{D7983D7A-40AA-4F71-ACAF-57BBAF8A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3712464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sz="13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0037411" name="Google Shape;124;p3">
            <a:extLst xmlns:a="http://schemas.openxmlformats.org/drawingml/2006/main">
              <a:ext uri="{FF2B5EF4-FFF2-40B4-BE49-F238E27FC236}">
                <a16:creationId xmlns:a16="http://schemas.microsoft.com/office/drawing/2014/main" id="{25EB3B64-CB20-4A3F-8F98-16DBCEC4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721608"/>
            <a:ext cx="5742432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sz="125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WHY IT BEATS THE WORKAROUND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5766236" name="Google Shape;125;p3">
            <a:extLst xmlns:a="http://schemas.openxmlformats.org/drawingml/2006/main">
              <a:ext uri="{FF2B5EF4-FFF2-40B4-BE49-F238E27FC236}">
                <a16:creationId xmlns:a16="http://schemas.microsoft.com/office/drawing/2014/main" id="{D96D8EB0-3B07-4B99-BCB1-E413E7C2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123944"/>
            <a:ext cx="569671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sz="115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Runs entirely on a local laptop over private Wi-Fi, so Walk Mode stays independent; the dashboard is optional local hall intelligence, not an approval gate for guidance.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3428166" name="Google Shape;126;p3">
            <a:extLst xmlns:a="http://schemas.openxmlformats.org/drawingml/2006/main">
              <a:ext uri="{FF2B5EF4-FFF2-40B4-BE49-F238E27FC236}">
                <a16:creationId xmlns:a16="http://schemas.microsoft.com/office/drawing/2014/main" id="{F957946E-A3A2-4B3A-A036-45077328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39" y="4873752"/>
            <a:ext cx="674827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762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0726750" name="Google Shape;127;p3">
            <a:extLst xmlns:a="http://schemas.openxmlformats.org/drawingml/2006/main">
              <a:ext uri="{FF2B5EF4-FFF2-40B4-BE49-F238E27FC236}">
                <a16:creationId xmlns:a16="http://schemas.microsoft.com/office/drawing/2014/main" id="{CD4F416C-28D3-46A9-A1F5-E7D46CE9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5111496"/>
            <a:ext cx="3657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650081" name="Google Shape;128;p3">
            <a:extLst xmlns:a="http://schemas.openxmlformats.org/drawingml/2006/main">
              <a:ext uri="{FF2B5EF4-FFF2-40B4-BE49-F238E27FC236}">
                <a16:creationId xmlns:a16="http://schemas.microsoft.com/office/drawing/2014/main" id="{611ADBC4-7D94-4EBA-82E0-062869B9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51206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sz="13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86081372" name="Google Shape;129;p3">
            <a:extLst xmlns:a="http://schemas.openxmlformats.org/drawingml/2006/main">
              <a:ext uri="{FF2B5EF4-FFF2-40B4-BE49-F238E27FC236}">
                <a16:creationId xmlns:a16="http://schemas.microsoft.com/office/drawing/2014/main" id="{77DD7965-4A15-4F1F-B868-42F28651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5129784"/>
            <a:ext cx="5742432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sz="125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WHAT'S GENUINELY DIFFERENT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4184983" name="Google Shape;130;p3">
            <a:extLst xmlns:a="http://schemas.openxmlformats.org/drawingml/2006/main">
              <a:ext uri="{FF2B5EF4-FFF2-40B4-BE49-F238E27FC236}">
                <a16:creationId xmlns:a16="http://schemas.microsoft.com/office/drawing/2014/main" id="{C85158F6-CCF0-4B8C-A1C6-13BF0654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5532120"/>
            <a:ext cx="569671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sz="115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Weak or contradictory evidence returns PAUSE_UNCLEAR instead of a guess - DRISHTI pairs personal mobility assistance with an operational verify-assign-resolve hazard workflow.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9312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9070948" name="Google Shape;136;p4">
            <a:extLst xmlns:a="http://schemas.openxmlformats.org/drawingml/2006/main">
              <a:ext uri="{FF2B5EF4-FFF2-40B4-BE49-F238E27FC236}">
                <a16:creationId xmlns:a16="http://schemas.microsoft.com/office/drawing/2014/main" id="{C7D02A4F-1A28-4CE3-B70F-2ABF353C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10821805" name="Google Shape;137;p4"/>
          <p:cNvCxnSpPr/>
          <p:nvPr/>
        </p:nvCxnSpPr>
        <p:spPr>
          <a:xfrm xmlns:a="http://schemas.openxmlformats.org/drawingml/2006/main">
            <a:off x="694944" y="274320"/>
            <a:ext cx="0" cy="29260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0821806" name="Google Shape;138;p4"/>
          <p:cNvCxnSpPr/>
          <p:nvPr/>
        </p:nvCxnSpPr>
        <p:spPr>
          <a:xfrm xmlns:a="http://schemas.openxmlformats.org/drawingml/2006/main">
            <a:off x="694944" y="420624"/>
            <a:ext cx="146304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80510465" name="Google Shape;139;p4">
            <a:extLst xmlns:a="http://schemas.openxmlformats.org/drawingml/2006/main">
              <a:ext uri="{FF2B5EF4-FFF2-40B4-BE49-F238E27FC236}">
                <a16:creationId xmlns:a16="http://schemas.microsoft.com/office/drawing/2014/main" id="{9B9E561F-D703-44FD-A955-1BE240C5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29184"/>
            <a:ext cx="38404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sz="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7792548" name="Google Shape;140;p4">
            <a:extLst xmlns:a="http://schemas.openxmlformats.org/drawingml/2006/main">
              <a:ext uri="{FF2B5EF4-FFF2-40B4-BE49-F238E27FC236}">
                <a16:creationId xmlns:a16="http://schemas.microsoft.com/office/drawing/2014/main" id="{1BB8736C-6879-4207-AE68-DF54DB12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37744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635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832585" name="Google Shape;141;p4">
            <a:extLst xmlns:a="http://schemas.openxmlformats.org/drawingml/2006/main">
              <a:ext uri="{FF2B5EF4-FFF2-40B4-BE49-F238E27FC236}">
                <a16:creationId xmlns:a16="http://schemas.microsoft.com/office/drawing/2014/main" id="{DBF9F38D-8074-4B32-8CAB-A0EA7E13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46888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sz="17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10821810" name="Google Shape;142;p4"/>
          <p:cNvCxnSpPr/>
          <p:nvPr/>
        </p:nvCxnSpPr>
        <p:spPr>
          <a:xfrm xmlns:a="http://schemas.openxmlformats.org/drawingml/2006/main">
            <a:off x="548640" y="6455664"/>
            <a:ext cx="1109441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7923721" name="Google Shape;143;p4">
            <a:extLst xmlns:a="http://schemas.openxmlformats.org/drawingml/2006/main">
              <a:ext uri="{FF2B5EF4-FFF2-40B4-BE49-F238E27FC236}">
                <a16:creationId xmlns:a16="http://schemas.microsoft.com/office/drawing/2014/main" id="{6A3C3F09-98C7-4876-BE2A-F442D531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47104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3140685" name="Google Shape;144;p4">
            <a:extLst xmlns:a="http://schemas.openxmlformats.org/drawingml/2006/main">
              <a:ext uri="{FF2B5EF4-FFF2-40B4-BE49-F238E27FC236}">
                <a16:creationId xmlns:a16="http://schemas.microsoft.com/office/drawing/2014/main" id="{F598F25E-204A-461B-9B13-72D91FC4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855" y="6547104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FRAME 04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42836297" name="Google Shape;145;p4">
            <a:extLst xmlns:a="http://schemas.openxmlformats.org/drawingml/2006/main">
              <a:ext uri="{FF2B5EF4-FFF2-40B4-BE49-F238E27FC236}">
                <a16:creationId xmlns:a16="http://schemas.microsoft.com/office/drawing/2014/main" id="{FA420AAD-FB82-490A-836D-77ABB41B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sz="30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SYSTEM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1323176" name="Google Shape;146;p4">
            <a:extLst xmlns:a="http://schemas.openxmlformats.org/drawingml/2006/main">
              <a:ext uri="{FF2B5EF4-FFF2-40B4-BE49-F238E27FC236}">
                <a16:creationId xmlns:a16="http://schemas.microsoft.com/office/drawing/2014/main" id="{37D78E64-CC97-4F25-837C-405BDA17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9692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sz="100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walk the full flow · name real services &amp;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9613451" name="Google Shape;147;p4">
            <a:extLst xmlns:a="http://schemas.openxmlformats.org/drawingml/2006/main">
              <a:ext uri="{FF2B5EF4-FFF2-40B4-BE49-F238E27FC236}">
                <a16:creationId xmlns:a16="http://schemas.microsoft.com/office/drawing/2014/main" id="{71B79E21-766F-4F56-A442-BC78F6EA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93392"/>
            <a:ext cx="11091672" cy="1810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889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5223564" name="Google Shape;148;p4">
            <a:extLst xmlns:a="http://schemas.openxmlformats.org/drawingml/2006/main">
              <a:ext uri="{FF2B5EF4-FFF2-40B4-BE49-F238E27FC236}">
                <a16:creationId xmlns:a16="http://schemas.microsoft.com/office/drawing/2014/main" id="{478E0299-9FE3-424D-BFC8-D5BDECD9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94560"/>
            <a:ext cx="3657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FIG. 04-A — SYSTEM FLOW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8136616" name="Google Shape;149;p4">
            <a:extLst xmlns:a="http://schemas.openxmlformats.org/drawingml/2006/main">
              <a:ext uri="{FF2B5EF4-FFF2-40B4-BE49-F238E27FC236}">
                <a16:creationId xmlns:a16="http://schemas.microsoft.com/office/drawing/2014/main" id="{FF7B6BE4-9F23-450E-A122-0CBCEE8A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892" y="2542032"/>
            <a:ext cx="13716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508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544360" name="Google Shape;150;p4">
            <a:extLst xmlns:a="http://schemas.openxmlformats.org/drawingml/2006/main">
              <a:ext uri="{FF2B5EF4-FFF2-40B4-BE49-F238E27FC236}">
                <a16:creationId xmlns:a16="http://schemas.microsoft.com/office/drawing/2014/main" id="{CDBF4B6A-62C3-48EA-9319-1FC97635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892" y="2542032"/>
            <a:ext cx="13716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sz="9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PHONE</a:t>
            </a:r>
            <a:br/>
            <a:r>
              <a:rPr sz="9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CAMERA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10821819" name="Google Shape;151;p4"/>
          <p:cNvCxnSpPr/>
          <p:nvPr/>
        </p:nvCxnSpPr>
        <p:spPr>
          <a:xfrm xmlns:a="http://schemas.openxmlformats.org/drawingml/2006/main">
            <a:off x="2848356" y="2825496"/>
            <a:ext cx="237744" cy="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11111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31531488" name="Google Shape;152;p4">
            <a:extLst xmlns:a="http://schemas.openxmlformats.org/drawingml/2006/main">
              <a:ext uri="{FF2B5EF4-FFF2-40B4-BE49-F238E27FC236}">
                <a16:creationId xmlns:a16="http://schemas.microsoft.com/office/drawing/2014/main" id="{CA1DA91D-8E5E-427D-AD0B-F3429E45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964" y="2542032"/>
            <a:ext cx="1417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508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088031" name="Google Shape;153;p4">
            <a:extLst xmlns:a="http://schemas.openxmlformats.org/drawingml/2006/main">
              <a:ext uri="{FF2B5EF4-FFF2-40B4-BE49-F238E27FC236}">
                <a16:creationId xmlns:a16="http://schemas.microsoft.com/office/drawing/2014/main" id="{68842711-AA0F-4640-A490-D05E5E82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964" y="2542032"/>
            <a:ext cx="141732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sz="9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EXPO TEST</a:t>
            </a:r>
            <a:br/>
            <a:r>
              <a:rPr sz="9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HARNESS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10821822" name="Google Shape;154;p4"/>
          <p:cNvCxnSpPr/>
          <p:nvPr/>
        </p:nvCxnSpPr>
        <p:spPr>
          <a:xfrm xmlns:a="http://schemas.openxmlformats.org/drawingml/2006/main">
            <a:off x="4613148" y="2825496"/>
            <a:ext cx="237744" cy="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11111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10821803" name="Google Shape;155;p4">
            <a:extLst xmlns:a="http://schemas.openxmlformats.org/drawingml/2006/main">
              <a:ext uri="{FF2B5EF4-FFF2-40B4-BE49-F238E27FC236}">
                <a16:creationId xmlns:a16="http://schemas.microsoft.com/office/drawing/2014/main" id="{C496A29E-F750-4119-A2E0-3CD8745A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755" y="2542032"/>
            <a:ext cx="17830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508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993545" name="Google Shape;156;p4">
            <a:extLst xmlns:a="http://schemas.openxmlformats.org/drawingml/2006/main">
              <a:ext uri="{FF2B5EF4-FFF2-40B4-BE49-F238E27FC236}">
                <a16:creationId xmlns:a16="http://schemas.microsoft.com/office/drawing/2014/main" id="{5C6E7966-C1E6-4F47-8779-031DD750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755" y="2542032"/>
            <a:ext cx="17830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sz="9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FASTAPI +
SQLITE + VLM
(LOCAL)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10821825" name="Google Shape;157;p4"/>
          <p:cNvCxnSpPr/>
          <p:nvPr/>
        </p:nvCxnSpPr>
        <p:spPr>
          <a:xfrm xmlns:a="http://schemas.openxmlformats.org/drawingml/2006/main">
            <a:off x="6743700" y="2825496"/>
            <a:ext cx="237744" cy="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11111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2724622" name="Google Shape;158;p4">
            <a:extLst xmlns:a="http://schemas.openxmlformats.org/drawingml/2006/main">
              <a:ext uri="{FF2B5EF4-FFF2-40B4-BE49-F238E27FC236}">
                <a16:creationId xmlns:a16="http://schemas.microsoft.com/office/drawing/2014/main" id="{4639ADF7-7902-4568-BAC4-0E7623F3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308" y="2542032"/>
            <a:ext cx="23317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508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954208" name="Google Shape;159;p4">
            <a:extLst xmlns:a="http://schemas.openxmlformats.org/drawingml/2006/main">
              <a:ext uri="{FF2B5EF4-FFF2-40B4-BE49-F238E27FC236}">
                <a16:creationId xmlns:a16="http://schemas.microsoft.com/office/drawing/2014/main" id="{9EB4A73E-9CB5-4DBB-87DA-D5C90BC6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308" y="2542032"/>
            <a:ext cx="233172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sz="9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YOLO11n + SEGFORMER-B0
(RTX 4060, LOCAL)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10821828" name="Google Shape;160;p4"/>
          <p:cNvCxnSpPr/>
          <p:nvPr/>
        </p:nvCxnSpPr>
        <p:spPr>
          <a:xfrm xmlns:a="http://schemas.openxmlformats.org/drawingml/2006/main">
            <a:off x="9422892" y="2825496"/>
            <a:ext cx="237744" cy="0"/>
          </a:xfrm>
          <a:prstGeom xmlns:a="http://schemas.openxmlformats.org/drawingml/2006/main" prst="straightConnector1">
            <a:avLst/>
          </a:prstGeom>
          <a:ln xmlns:a="http://schemas.openxmlformats.org/drawingml/2006/main" w="31750" cap="flat">
            <a:solidFill>
              <a:srgbClr val="11111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94303869" name="Google Shape;161;p4">
            <a:extLst xmlns:a="http://schemas.openxmlformats.org/drawingml/2006/main">
              <a:ext uri="{FF2B5EF4-FFF2-40B4-BE49-F238E27FC236}">
                <a16:creationId xmlns:a16="http://schemas.microsoft.com/office/drawing/2014/main" id="{40AA4B08-4FFA-4908-A02F-AC02B33F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42032"/>
            <a:ext cx="1051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508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612383" name="Google Shape;162;p4">
            <a:extLst xmlns:a="http://schemas.openxmlformats.org/drawingml/2006/main">
              <a:ext uri="{FF2B5EF4-FFF2-40B4-BE49-F238E27FC236}">
                <a16:creationId xmlns:a16="http://schemas.microsoft.com/office/drawing/2014/main" id="{C25D4155-86C0-41D7-B854-9BEE61CD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42032"/>
            <a:ext cx="105156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sz="9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GUIDANCE +
HALL DASHBOARD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88296057" name="Google Shape;163;p4">
            <a:extLst xmlns:a="http://schemas.openxmlformats.org/drawingml/2006/main">
              <a:ext uri="{FF2B5EF4-FFF2-40B4-BE49-F238E27FC236}">
                <a16:creationId xmlns:a16="http://schemas.microsoft.com/office/drawing/2014/main" id="{AD86EE34-B78C-4645-9DA0-9AF7C761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64992"/>
            <a:ext cx="11091672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sz="9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All boxes above run on the team's laptop over a private Wi-Fi LAN - no cloud round-trip at runtime.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4984416" name="Google Shape;164;p4">
            <a:extLst xmlns:a="http://schemas.openxmlformats.org/drawingml/2006/main">
              <a:ext uri="{FF2B5EF4-FFF2-40B4-BE49-F238E27FC236}">
                <a16:creationId xmlns:a16="http://schemas.microsoft.com/office/drawing/2014/main" id="{86A47976-40E1-4245-84C0-ABC7EEEB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87952"/>
            <a:ext cx="3575303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762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367240" name="Google Shape;165;p4">
            <a:extLst xmlns:a="http://schemas.openxmlformats.org/drawingml/2006/main">
              <a:ext uri="{FF2B5EF4-FFF2-40B4-BE49-F238E27FC236}">
                <a16:creationId xmlns:a16="http://schemas.microsoft.com/office/drawing/2014/main" id="{F350687B-11DA-4DF0-A872-F5CD893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25696"/>
            <a:ext cx="3657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083099" name="Google Shape;166;p4">
            <a:extLst xmlns:a="http://schemas.openxmlformats.org/drawingml/2006/main">
              <a:ext uri="{FF2B5EF4-FFF2-40B4-BE49-F238E27FC236}">
                <a16:creationId xmlns:a16="http://schemas.microsoft.com/office/drawing/2014/main" id="{FFFD9F06-A150-42D1-B8D8-9CA0E685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348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sz="13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7858207" name="Google Shape;167;p4">
            <a:extLst xmlns:a="http://schemas.openxmlformats.org/drawingml/2006/main">
              <a:ext uri="{FF2B5EF4-FFF2-40B4-BE49-F238E27FC236}">
                <a16:creationId xmlns:a16="http://schemas.microsoft.com/office/drawing/2014/main" id="{71851951-88A0-4002-B93A-38A134CA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407408"/>
            <a:ext cx="261518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sz="11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KEY TECHNICAL DECISION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3921857" name="Google Shape;168;p4">
            <a:extLst xmlns:a="http://schemas.openxmlformats.org/drawingml/2006/main">
              <a:ext uri="{FF2B5EF4-FFF2-40B4-BE49-F238E27FC236}">
                <a16:creationId xmlns:a16="http://schemas.microsoft.com/office/drawing/2014/main" id="{BEC89864-4492-478E-8179-88A49898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992624"/>
            <a:ext cx="30632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sz="110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YOLO11n detects indoor obstacles while SegFormer-B0 reads walkable surface and walls. A deterministic risk engine governs Walk Mode; the local VLM answers only explicit Explore requests.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2771714" name="Google Shape;169;p4">
            <a:extLst xmlns:a="http://schemas.openxmlformats.org/drawingml/2006/main">
              <a:ext uri="{FF2B5EF4-FFF2-40B4-BE49-F238E27FC236}">
                <a16:creationId xmlns:a16="http://schemas.microsoft.com/office/drawing/2014/main" id="{65AE6AB8-5DB5-4EE2-8FDE-40B0E12D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4187952"/>
            <a:ext cx="3575303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762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727131" name="Google Shape;170;p4">
            <a:extLst xmlns:a="http://schemas.openxmlformats.org/drawingml/2006/main">
              <a:ext uri="{FF2B5EF4-FFF2-40B4-BE49-F238E27FC236}">
                <a16:creationId xmlns:a16="http://schemas.microsoft.com/office/drawing/2014/main" id="{038D5102-8402-47B8-90E6-48135433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425696"/>
            <a:ext cx="3657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5895682" name="Google Shape;171;p4">
            <a:extLst xmlns:a="http://schemas.openxmlformats.org/drawingml/2006/main">
              <a:ext uri="{FF2B5EF4-FFF2-40B4-BE49-F238E27FC236}">
                <a16:creationId xmlns:a16="http://schemas.microsoft.com/office/drawing/2014/main" id="{C255A32A-DCF5-49C4-B700-28502EA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4348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sz="13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6539849" name="Google Shape;172;p4">
            <a:extLst xmlns:a="http://schemas.openxmlformats.org/drawingml/2006/main">
              <a:ext uri="{FF2B5EF4-FFF2-40B4-BE49-F238E27FC236}">
                <a16:creationId xmlns:a16="http://schemas.microsoft.com/office/drawing/2014/main" id="{37935025-9AA3-4A70-B266-527DF5D1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4407408"/>
            <a:ext cx="261518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sz="11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HARDEST PART TO BUILD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2245905" name="Google Shape;173;p4">
            <a:extLst xmlns:a="http://schemas.openxmlformats.org/drawingml/2006/main">
              <a:ext uri="{FF2B5EF4-FFF2-40B4-BE49-F238E27FC236}">
                <a16:creationId xmlns:a16="http://schemas.microsoft.com/office/drawing/2014/main" id="{FCEEEBE0-3811-40DD-8DF7-B773EA67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992624"/>
            <a:ext cx="30632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sz="110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Keeping Walk Mode stable on a live phone feed - session-scoped tracking, corridor occupancy, persistence, hysteresis, and cooldowns stop a single noisy frame from flipping the guidance action.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5549343" name="Google Shape;174;p4">
            <a:extLst xmlns:a="http://schemas.openxmlformats.org/drawingml/2006/main">
              <a:ext uri="{FF2B5EF4-FFF2-40B4-BE49-F238E27FC236}">
                <a16:creationId xmlns:a16="http://schemas.microsoft.com/office/drawing/2014/main" id="{6805C566-84EA-43BD-8002-A2954339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4187952"/>
            <a:ext cx="3575303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762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482116" name="Google Shape;175;p4">
            <a:extLst xmlns:a="http://schemas.openxmlformats.org/drawingml/2006/main">
              <a:ext uri="{FF2B5EF4-FFF2-40B4-BE49-F238E27FC236}">
                <a16:creationId xmlns:a16="http://schemas.microsoft.com/office/drawing/2014/main" id="{D5627FE0-1193-4952-83E3-692B78C5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9" y="4425696"/>
            <a:ext cx="3657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7612702" name="Google Shape;176;p4">
            <a:extLst xmlns:a="http://schemas.openxmlformats.org/drawingml/2006/main">
              <a:ext uri="{FF2B5EF4-FFF2-40B4-BE49-F238E27FC236}">
                <a16:creationId xmlns:a16="http://schemas.microsoft.com/office/drawing/2014/main" id="{12C5B24B-A30B-45C1-90C0-2FAA0210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9" y="44348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sz="13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4753133" name="Google Shape;177;p4">
            <a:extLst xmlns:a="http://schemas.openxmlformats.org/drawingml/2006/main">
              <a:ext uri="{FF2B5EF4-FFF2-40B4-BE49-F238E27FC236}">
                <a16:creationId xmlns:a16="http://schemas.microsoft.com/office/drawing/2014/main" id="{2614F51F-1B3A-456B-95F8-E091EC28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4407408"/>
            <a:ext cx="261518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sz="11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HOW YOU KNOW IT WORKS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3856748" name="Google Shape;178;p4">
            <a:extLst xmlns:a="http://schemas.openxmlformats.org/drawingml/2006/main">
              <a:ext uri="{FF2B5EF4-FFF2-40B4-BE49-F238E27FC236}">
                <a16:creationId xmlns:a16="http://schemas.microsoft.com/office/drawing/2014/main" id="{5D481B33-95F5-4F8B-A676-553354B2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39" y="4992624"/>
            <a:ext cx="30632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sz="110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128 backend automated tests, 34 Expo-harness tests and 3 dashboard tests validate the local detector, segmentation, OCR, VLM and hall analytics pipeline on the team's RTX 4060.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79431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0729366" name="Google Shape;184;p5">
            <a:extLst xmlns:a="http://schemas.openxmlformats.org/drawingml/2006/main">
              <a:ext uri="{FF2B5EF4-FFF2-40B4-BE49-F238E27FC236}">
                <a16:creationId xmlns:a16="http://schemas.microsoft.com/office/drawing/2014/main" id="{490E105D-D05E-4DD6-AECC-4C95A73D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41058190" name="Google Shape;185;p5"/>
          <p:cNvCxnSpPr/>
          <p:nvPr/>
        </p:nvCxnSpPr>
        <p:spPr>
          <a:xfrm xmlns:a="http://schemas.openxmlformats.org/drawingml/2006/main">
            <a:off x="694944" y="274320"/>
            <a:ext cx="0" cy="29260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41058191" name="Google Shape;186;p5"/>
          <p:cNvCxnSpPr/>
          <p:nvPr/>
        </p:nvCxnSpPr>
        <p:spPr>
          <a:xfrm xmlns:a="http://schemas.openxmlformats.org/drawingml/2006/main">
            <a:off x="694944" y="420624"/>
            <a:ext cx="146304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7163193" name="Google Shape;187;p5">
            <a:extLst xmlns:a="http://schemas.openxmlformats.org/drawingml/2006/main">
              <a:ext uri="{FF2B5EF4-FFF2-40B4-BE49-F238E27FC236}">
                <a16:creationId xmlns:a16="http://schemas.microsoft.com/office/drawing/2014/main" id="{CBBDA55E-85CB-431F-8A90-202D976B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29184"/>
            <a:ext cx="38404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sz="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66212060" name="Google Shape;188;p5">
            <a:extLst xmlns:a="http://schemas.openxmlformats.org/drawingml/2006/main">
              <a:ext uri="{FF2B5EF4-FFF2-40B4-BE49-F238E27FC236}">
                <a16:creationId xmlns:a16="http://schemas.microsoft.com/office/drawing/2014/main" id="{B776B560-1BD5-4974-A318-926EC12C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37744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635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765544" name="Google Shape;189;p5">
            <a:extLst xmlns:a="http://schemas.openxmlformats.org/drawingml/2006/main">
              <a:ext uri="{FF2B5EF4-FFF2-40B4-BE49-F238E27FC236}">
                <a16:creationId xmlns:a16="http://schemas.microsoft.com/office/drawing/2014/main" id="{B2874686-A3B9-42B0-B1CD-5286A5A0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46888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sz="17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041058195" name="Google Shape;190;p5"/>
          <p:cNvCxnSpPr/>
          <p:nvPr/>
        </p:nvCxnSpPr>
        <p:spPr>
          <a:xfrm xmlns:a="http://schemas.openxmlformats.org/drawingml/2006/main">
            <a:off x="548640" y="6455664"/>
            <a:ext cx="1109441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7786808" name="Google Shape;191;p5">
            <a:extLst xmlns:a="http://schemas.openxmlformats.org/drawingml/2006/main">
              <a:ext uri="{FF2B5EF4-FFF2-40B4-BE49-F238E27FC236}">
                <a16:creationId xmlns:a16="http://schemas.microsoft.com/office/drawing/2014/main" id="{DA9C0184-A4EF-4CCC-BA19-8BF5360F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47104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6240474" name="Google Shape;192;p5">
            <a:extLst xmlns:a="http://schemas.openxmlformats.org/drawingml/2006/main">
              <a:ext uri="{FF2B5EF4-FFF2-40B4-BE49-F238E27FC236}">
                <a16:creationId xmlns:a16="http://schemas.microsoft.com/office/drawing/2014/main" id="{1814D7EA-1396-4A16-B5A2-76E2B2C3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855" y="6547104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FRAME 05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337077" name="Google Shape;193;p5">
            <a:extLst xmlns:a="http://schemas.openxmlformats.org/drawingml/2006/main">
              <a:ext uri="{FF2B5EF4-FFF2-40B4-BE49-F238E27FC236}">
                <a16:creationId xmlns:a16="http://schemas.microsoft.com/office/drawing/2014/main" id="{719C150C-0271-46E7-A77F-B70EBADA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sz="30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FEASIBILITY &amp; SCOPE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1058188" name="Google Shape;194;p5">
            <a:extLst xmlns:a="http://schemas.openxmlformats.org/drawingml/2006/main">
              <a:ext uri="{FF2B5EF4-FFF2-40B4-BE49-F238E27FC236}">
                <a16:creationId xmlns:a16="http://schemas.microsoft.com/office/drawing/2014/main" id="{E2BCE518-A351-4AC2-9A85-35F9E8ED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9692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sz="100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a working slice with a known limit beats an over-promised demo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2005686" name="Google Shape;195;p5">
            <a:extLst xmlns:a="http://schemas.openxmlformats.org/drawingml/2006/main">
              <a:ext uri="{FF2B5EF4-FFF2-40B4-BE49-F238E27FC236}">
                <a16:creationId xmlns:a16="http://schemas.microsoft.com/office/drawing/2014/main" id="{3045790A-4088-4D21-B7A8-07850A58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93392"/>
            <a:ext cx="5468112" cy="1975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762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189116" name="Google Shape;196;p5">
            <a:extLst xmlns:a="http://schemas.openxmlformats.org/drawingml/2006/main">
              <a:ext uri="{FF2B5EF4-FFF2-40B4-BE49-F238E27FC236}">
                <a16:creationId xmlns:a16="http://schemas.microsoft.com/office/drawing/2014/main" id="{CE19F889-C949-44F5-AACC-31356A47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67712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6931742" name="Google Shape;197;p5">
            <a:extLst xmlns:a="http://schemas.openxmlformats.org/drawingml/2006/main">
              <a:ext uri="{FF2B5EF4-FFF2-40B4-BE49-F238E27FC236}">
                <a16:creationId xmlns:a16="http://schemas.microsoft.com/office/drawing/2014/main" id="{D8A7D9BE-3568-4AAF-8538-4B888FFE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7685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sz="13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4522393" name="Google Shape;198;p5">
            <a:extLst xmlns:a="http://schemas.openxmlformats.org/drawingml/2006/main">
              <a:ext uri="{FF2B5EF4-FFF2-40B4-BE49-F238E27FC236}">
                <a16:creationId xmlns:a16="http://schemas.microsoft.com/office/drawing/2014/main" id="{46E4C75A-D5EC-4C13-9B9B-087441ED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04288"/>
            <a:ext cx="437083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sz="135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SCOPE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30434630" name="Google Shape;199;p5">
            <a:extLst xmlns:a="http://schemas.openxmlformats.org/drawingml/2006/main">
              <a:ext uri="{FF2B5EF4-FFF2-40B4-BE49-F238E27FC236}">
                <a16:creationId xmlns:a16="http://schemas.microsoft.com/office/drawing/2014/main" id="{A838F72D-C019-4D28-BF90-7EB447B5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89504"/>
            <a:ext cx="4919471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sz="1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In: Indoor Hall Obstacle Course, full detection + guidance, OCR/VLM exploration, recurring hazards and route scoring.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8946793" name="Google Shape;200;p5">
            <a:extLst xmlns:a="http://schemas.openxmlformats.org/drawingml/2006/main">
              <a:ext uri="{FF2B5EF4-FFF2-40B4-BE49-F238E27FC236}">
                <a16:creationId xmlns:a16="http://schemas.microsoft.com/office/drawing/2014/main" id="{B80B9911-D8AF-4E3F-BBF4-3A2D3EAB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91840"/>
            <a:ext cx="4919471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sz="1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Out: Outdoor roads, traffic hazards, autonomous navigation, emergency dispatch, facial recognition and cloud AI.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6692107" name="Google Shape;201;p5">
            <a:extLst xmlns:a="http://schemas.openxmlformats.org/drawingml/2006/main">
              <a:ext uri="{FF2B5EF4-FFF2-40B4-BE49-F238E27FC236}">
                <a16:creationId xmlns:a16="http://schemas.microsoft.com/office/drawing/2014/main" id="{B4DBD0B1-8E1D-4407-A60C-EBDEADB6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93392"/>
            <a:ext cx="5468112" cy="1975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762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3194149" name="Google Shape;202;p5">
            <a:extLst xmlns:a="http://schemas.openxmlformats.org/drawingml/2006/main">
              <a:ext uri="{FF2B5EF4-FFF2-40B4-BE49-F238E27FC236}">
                <a16:creationId xmlns:a16="http://schemas.microsoft.com/office/drawing/2014/main" id="{C720FBED-5B81-405A-82C4-5DE65A09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267712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6894841" name="Google Shape;203;p5">
            <a:extLst xmlns:a="http://schemas.openxmlformats.org/drawingml/2006/main">
              <a:ext uri="{FF2B5EF4-FFF2-40B4-BE49-F238E27FC236}">
                <a16:creationId xmlns:a16="http://schemas.microsoft.com/office/drawing/2014/main" id="{BD1494F8-48D6-4E75-8615-C3B019A8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27685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sz="13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9197025" name="Google Shape;204;p5">
            <a:extLst xmlns:a="http://schemas.openxmlformats.org/drawingml/2006/main">
              <a:ext uri="{FF2B5EF4-FFF2-40B4-BE49-F238E27FC236}">
                <a16:creationId xmlns:a16="http://schemas.microsoft.com/office/drawing/2014/main" id="{CA70F448-70F3-47A1-9EBD-802BA98D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2304288"/>
            <a:ext cx="437083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sz="135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RUNNING COST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5676605" name="Google Shape;205;p5">
            <a:extLst xmlns:a="http://schemas.openxmlformats.org/drawingml/2006/main">
              <a:ext uri="{FF2B5EF4-FFF2-40B4-BE49-F238E27FC236}">
                <a16:creationId xmlns:a16="http://schemas.microsoft.com/office/drawing/2014/main" id="{855CF8B9-7703-43D5-B943-C8258EB3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62072"/>
            <a:ext cx="4919471" cy="923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sz="115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$0 recurring - inference runs on the team's own RTX 4060 laptop over a private LAN; FastAPI + SQLite need no hosting, cloud API, or storage fees.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2301051" name="Google Shape;206;p5">
            <a:extLst xmlns:a="http://schemas.openxmlformats.org/drawingml/2006/main">
              <a:ext uri="{FF2B5EF4-FFF2-40B4-BE49-F238E27FC236}">
                <a16:creationId xmlns:a16="http://schemas.microsoft.com/office/drawing/2014/main" id="{EED8241F-E7D9-4DA2-8A76-C20DDCA9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97680"/>
            <a:ext cx="5468112" cy="1975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762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270719" name="Google Shape;207;p5">
            <a:extLst xmlns:a="http://schemas.openxmlformats.org/drawingml/2006/main">
              <a:ext uri="{FF2B5EF4-FFF2-40B4-BE49-F238E27FC236}">
                <a16:creationId xmlns:a16="http://schemas.microsoft.com/office/drawing/2014/main" id="{DC16CC64-C085-497B-B47A-20AB101B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7200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4328229" name="Google Shape;208;p5">
            <a:extLst xmlns:a="http://schemas.openxmlformats.org/drawingml/2006/main">
              <a:ext uri="{FF2B5EF4-FFF2-40B4-BE49-F238E27FC236}">
                <a16:creationId xmlns:a16="http://schemas.microsoft.com/office/drawing/2014/main" id="{6E8BB123-1AED-402E-BEC9-D48AF42E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8114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sz="13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44723732" name="Google Shape;209;p5">
            <a:extLst xmlns:a="http://schemas.openxmlformats.org/drawingml/2006/main">
              <a:ext uri="{FF2B5EF4-FFF2-40B4-BE49-F238E27FC236}">
                <a16:creationId xmlns:a16="http://schemas.microsoft.com/office/drawing/2014/main" id="{C67A14E1-226D-481F-B834-6536653B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8576"/>
            <a:ext cx="437083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sz="135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RISKS &amp; FALLBACK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3231140" name="Google Shape;210;p5">
            <a:extLst xmlns:a="http://schemas.openxmlformats.org/drawingml/2006/main">
              <a:ext uri="{FF2B5EF4-FFF2-40B4-BE49-F238E27FC236}">
                <a16:creationId xmlns:a16="http://schemas.microsoft.com/office/drawing/2014/main" id="{F7285B44-54C6-4622-82C0-2C7735D4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66360"/>
            <a:ext cx="4919471" cy="923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sz="115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Weak or contradictory visual evidence could mislead a user - the risk engine defaults to PAUSE_UNCLEAR instead of guessing. Fallback for any demo: keep phone and laptop on the same local Wi-Fi.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6122279" name="Google Shape;211;p5">
            <a:extLst xmlns:a="http://schemas.openxmlformats.org/drawingml/2006/main">
              <a:ext uri="{FF2B5EF4-FFF2-40B4-BE49-F238E27FC236}">
                <a16:creationId xmlns:a16="http://schemas.microsoft.com/office/drawing/2014/main" id="{F2177EAE-997E-4EEA-A780-A408B332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4297680"/>
            <a:ext cx="5468112" cy="1975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762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935869" name="Google Shape;212;p5">
            <a:extLst xmlns:a="http://schemas.openxmlformats.org/drawingml/2006/main">
              <a:ext uri="{FF2B5EF4-FFF2-40B4-BE49-F238E27FC236}">
                <a16:creationId xmlns:a16="http://schemas.microsoft.com/office/drawing/2014/main" id="{50187887-10C5-4E20-8BA6-936CE33F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457200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0039362" name="Google Shape;213;p5">
            <a:extLst xmlns:a="http://schemas.openxmlformats.org/drawingml/2006/main">
              <a:ext uri="{FF2B5EF4-FFF2-40B4-BE49-F238E27FC236}">
                <a16:creationId xmlns:a16="http://schemas.microsoft.com/office/drawing/2014/main" id="{E1C73FF8-788A-479B-BEBC-0902B79E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458114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sz="13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31276775" name="Google Shape;214;p5">
            <a:extLst xmlns:a="http://schemas.openxmlformats.org/drawingml/2006/main">
              <a:ext uri="{FF2B5EF4-FFF2-40B4-BE49-F238E27FC236}">
                <a16:creationId xmlns:a16="http://schemas.microsoft.com/office/drawing/2014/main" id="{3A4C0F5D-03F8-4C2F-B77D-9837118E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4608576"/>
            <a:ext cx="4370832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sz="135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IMPLEMENTED NOW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5582933" name="Google Shape;215;p5">
            <a:extLst xmlns:a="http://schemas.openxmlformats.org/drawingml/2006/main">
              <a:ext uri="{FF2B5EF4-FFF2-40B4-BE49-F238E27FC236}">
                <a16:creationId xmlns:a16="http://schemas.microsoft.com/office/drawing/2014/main" id="{9C0798AB-5848-4F72-95F8-C4820D04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5166360"/>
            <a:ext cx="4919471" cy="923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sz="115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Local VLM for on-demand questions, recurring-hazard consolidation and expiry, hall route scoring, and a local dashboard for course intelligence.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30090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244190" name="Google Shape;221;p6">
            <a:extLst xmlns:a="http://schemas.openxmlformats.org/drawingml/2006/main">
              <a:ext uri="{FF2B5EF4-FFF2-40B4-BE49-F238E27FC236}">
                <a16:creationId xmlns:a16="http://schemas.microsoft.com/office/drawing/2014/main" id="{6C8013D7-A7B7-42DC-A7B4-A54708E7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FAF4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40026411" name="Google Shape;222;p6"/>
          <p:cNvCxnSpPr/>
          <p:nvPr/>
        </p:nvCxnSpPr>
        <p:spPr>
          <a:xfrm xmlns:a="http://schemas.openxmlformats.org/drawingml/2006/main">
            <a:off x="694944" y="274320"/>
            <a:ext cx="0" cy="29260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FAF4E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40026412" name="Google Shape;223;p6"/>
          <p:cNvCxnSpPr/>
          <p:nvPr/>
        </p:nvCxnSpPr>
        <p:spPr>
          <a:xfrm xmlns:a="http://schemas.openxmlformats.org/drawingml/2006/main">
            <a:off x="694944" y="420624"/>
            <a:ext cx="146304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FAF4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0026409" name="Google Shape;224;p6">
            <a:extLst xmlns:a="http://schemas.openxmlformats.org/drawingml/2006/main">
              <a:ext uri="{FF2B5EF4-FFF2-40B4-BE49-F238E27FC236}">
                <a16:creationId xmlns:a16="http://schemas.microsoft.com/office/drawing/2014/main" id="{D73F1059-89E8-43F9-B590-14E0CB1F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29184"/>
            <a:ext cx="38404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sz="950" b="1">
                <a:solidFill>
                  <a:srgbClr val="FAF4E8"/>
                </a:solidFill>
                <a:latin typeface="Arial"/>
                <a:ea typeface="Arial"/>
                <a:cs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3038497" name="Google Shape;225;p6">
            <a:extLst xmlns:a="http://schemas.openxmlformats.org/drawingml/2006/main">
              <a:ext uri="{FF2B5EF4-FFF2-40B4-BE49-F238E27FC236}">
                <a16:creationId xmlns:a16="http://schemas.microsoft.com/office/drawing/2014/main" id="{DA584809-BF86-4C70-AE03-16DE726D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37744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635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9879927" name="Google Shape;226;p6">
            <a:extLst xmlns:a="http://schemas.openxmlformats.org/drawingml/2006/main">
              <a:ext uri="{FF2B5EF4-FFF2-40B4-BE49-F238E27FC236}">
                <a16:creationId xmlns:a16="http://schemas.microsoft.com/office/drawing/2014/main" id="{173F3F58-BF5D-4AEC-A6A6-8EB0E2EA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46888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sz="17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940026416" name="Google Shape;227;p6"/>
          <p:cNvCxnSpPr/>
          <p:nvPr/>
        </p:nvCxnSpPr>
        <p:spPr>
          <a:xfrm xmlns:a="http://schemas.openxmlformats.org/drawingml/2006/main">
            <a:off x="548640" y="6455664"/>
            <a:ext cx="1109441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FAF4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39207173" name="Google Shape;228;p6">
            <a:extLst xmlns:a="http://schemas.openxmlformats.org/drawingml/2006/main">
              <a:ext uri="{FF2B5EF4-FFF2-40B4-BE49-F238E27FC236}">
                <a16:creationId xmlns:a16="http://schemas.microsoft.com/office/drawing/2014/main" id="{985A6872-D238-490F-8270-EA5A8663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47104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sz="850">
                <a:solidFill>
                  <a:srgbClr val="C9C4B6"/>
                </a:solidFill>
                <a:latin typeface="Courier New"/>
                <a:ea typeface="Courier New"/>
                <a:cs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2993879" name="Google Shape;229;p6">
            <a:extLst xmlns:a="http://schemas.openxmlformats.org/drawingml/2006/main">
              <a:ext uri="{FF2B5EF4-FFF2-40B4-BE49-F238E27FC236}">
                <a16:creationId xmlns:a16="http://schemas.microsoft.com/office/drawing/2014/main" id="{CC07FBB7-4146-4E1A-91FE-5B2944CB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855" y="6547104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sz="850">
                <a:solidFill>
                  <a:srgbClr val="C9C4B6"/>
                </a:solidFill>
                <a:latin typeface="Courier New"/>
                <a:ea typeface="Courier New"/>
                <a:cs typeface="Courier New"/>
              </a:rPr>
              <a:t>FRAME 06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6336983" name="Google Shape;230;p6">
            <a:extLst xmlns:a="http://schemas.openxmlformats.org/drawingml/2006/main">
              <a:ext uri="{FF2B5EF4-FFF2-40B4-BE49-F238E27FC236}">
                <a16:creationId xmlns:a16="http://schemas.microsoft.com/office/drawing/2014/main" id="{278833EA-7831-47AF-A88A-ADE1597B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3000"/>
              <a:buFont typeface="Arial Black"/>
              <a:buNone/>
            </a:pPr>
            <a:r>
              <a:rPr sz="3000">
                <a:solidFill>
                  <a:srgbClr val="FAF4E8"/>
                </a:solidFill>
                <a:latin typeface="Arial Black"/>
                <a:ea typeface="Arial Black"/>
                <a:cs typeface="Arial Black"/>
              </a:rPr>
              <a:t>IMPACT METRICS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7895951" name="Google Shape;231;p6">
            <a:extLst xmlns:a="http://schemas.openxmlformats.org/drawingml/2006/main">
              <a:ext uri="{FF2B5EF4-FFF2-40B4-BE49-F238E27FC236}">
                <a16:creationId xmlns:a16="http://schemas.microsoft.com/office/drawing/2014/main" id="{4F878114-5A63-4B72-8FDF-F8596EE3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9692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000"/>
              <a:buFont typeface="Courier New"/>
              <a:buNone/>
            </a:pPr>
            <a:r>
              <a:rPr sz="1000">
                <a:solidFill>
                  <a:srgbClr val="C9C4B6"/>
                </a:solidFill>
                <a:latin typeface="Courier New"/>
                <a:ea typeface="Courier New"/>
                <a:cs typeface="Courier New"/>
              </a:rPr>
              <a:t>show how the figure was measured, an estimate is fine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7631597" name="Google Shape;232;p6">
            <a:extLst xmlns:a="http://schemas.openxmlformats.org/drawingml/2006/main">
              <a:ext uri="{FF2B5EF4-FFF2-40B4-BE49-F238E27FC236}">
                <a16:creationId xmlns:a16="http://schemas.microsoft.com/office/drawing/2014/main" id="{B62EDAAB-A231-49F1-B68A-6C5394AE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57400"/>
            <a:ext cx="6400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3D1F"/>
              </a:buClr>
              <a:buSzPts val="9200"/>
              <a:buFont typeface="Arial Black"/>
              <a:buNone/>
            </a:pPr>
            <a:r>
              <a:rPr sz="9200">
                <a:solidFill>
                  <a:srgbClr val="FF3D1F"/>
                </a:solidFill>
                <a:latin typeface="Arial Black"/>
                <a:ea typeface="Arial Black"/>
                <a:cs typeface="Arial Black"/>
              </a:rPr>
              <a:t>99%</a:t>
            </a:r>
            <a:endParaRPr sz="9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3551882" name="Google Shape;233;p6">
            <a:extLst xmlns:a="http://schemas.openxmlformats.org/drawingml/2006/main">
              <a:ext uri="{FF2B5EF4-FFF2-40B4-BE49-F238E27FC236}">
                <a16:creationId xmlns:a16="http://schemas.microsoft.com/office/drawing/2014/main" id="{CC61877B-A2DF-45FF-A6B8-DD9952F4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2192"/>
            <a:ext cx="6035039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150"/>
              <a:buFont typeface="Courier New"/>
              <a:buNone/>
            </a:pPr>
            <a:r>
              <a:rPr sz="1150">
                <a:solidFill>
                  <a:srgbClr val="C9C4B6"/>
                </a:solidFill>
                <a:latin typeface="Courier New"/>
                <a:ea typeface="Courier New"/>
                <a:cs typeface="Courier New"/>
              </a:rPr>
              <a:t>of controlled indoor test walks where a planted obstacle was flagged before the user reached it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2744656" name="Google Shape;234;p6">
            <a:extLst xmlns:a="http://schemas.openxmlformats.org/drawingml/2006/main">
              <a:ext uri="{FF2B5EF4-FFF2-40B4-BE49-F238E27FC236}">
                <a16:creationId xmlns:a16="http://schemas.microsoft.com/office/drawing/2014/main" id="{218B5E14-AA47-4662-B2C0-D3E93342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70832"/>
            <a:ext cx="6172200" cy="1664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88900" dir="2700000" algn="bl" rotWithShape="0">
              <a:srgbClr val="FF3D1F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61096" name="Google Shape;235;p6">
            <a:extLst xmlns:a="http://schemas.openxmlformats.org/drawingml/2006/main">
              <a:ext uri="{FF2B5EF4-FFF2-40B4-BE49-F238E27FC236}">
                <a16:creationId xmlns:a16="http://schemas.microsoft.com/office/drawing/2014/main" id="{BF4F5841-FD77-4B2D-8689-C0F1BD2D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45152"/>
            <a:ext cx="36576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sz="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HOW IT WAS MEASURED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6895975" name="Google Shape;236;p6">
            <a:extLst xmlns:a="http://schemas.openxmlformats.org/drawingml/2006/main">
              <a:ext uri="{FF2B5EF4-FFF2-40B4-BE49-F238E27FC236}">
                <a16:creationId xmlns:a16="http://schemas.microsoft.com/office/drawing/2014/main" id="{B4B4DA78-254B-489E-815E-E34BB2CF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37760"/>
            <a:ext cx="55321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00"/>
              <a:buFont typeface="Arial"/>
              <a:buNone/>
            </a:pPr>
            <a:r>
              <a:rPr sz="120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Estimated from repeated indoor test walks with a known obstacle placed in the corridor - a small controlled sample, not yet a statistically validated benchmark.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2998611" name="Google Shape;237;p6">
            <a:extLst xmlns:a="http://schemas.openxmlformats.org/drawingml/2006/main">
              <a:ext uri="{FF2B5EF4-FFF2-40B4-BE49-F238E27FC236}">
                <a16:creationId xmlns:a16="http://schemas.microsoft.com/office/drawing/2014/main" id="{649E76F3-2E4F-419E-92DF-796D69BA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298448"/>
            <a:ext cx="4370832" cy="1152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63500" dir="2700000" algn="bl" rotWithShape="0">
              <a:srgbClr val="FF3D1F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5940623" name="Google Shape;238;p6">
            <a:extLst xmlns:a="http://schemas.openxmlformats.org/drawingml/2006/main">
              <a:ext uri="{FF2B5EF4-FFF2-40B4-BE49-F238E27FC236}">
                <a16:creationId xmlns:a16="http://schemas.microsoft.com/office/drawing/2014/main" id="{5FB330A1-474D-4510-8706-40FBC1F3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1499616"/>
            <a:ext cx="34747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6683942" name="Google Shape;239;p6">
            <a:extLst xmlns:a="http://schemas.openxmlformats.org/drawingml/2006/main">
              <a:ext uri="{FF2B5EF4-FFF2-40B4-BE49-F238E27FC236}">
                <a16:creationId xmlns:a16="http://schemas.microsoft.com/office/drawing/2014/main" id="{519434C2-1C8C-47B3-988D-D6356CF9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1508759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sz="13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6291778" name="Google Shape;240;p6">
            <a:extLst xmlns:a="http://schemas.openxmlformats.org/drawingml/2006/main">
              <a:ext uri="{FF2B5EF4-FFF2-40B4-BE49-F238E27FC236}">
                <a16:creationId xmlns:a16="http://schemas.microsoft.com/office/drawing/2014/main" id="{1FF8A637-AE4D-40B6-B6C6-4781DED8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463040"/>
            <a:ext cx="345643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sz="105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WHAT MEASURABLY IMPROVES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257025" name="Google Shape;241;p6">
            <a:extLst xmlns:a="http://schemas.openxmlformats.org/drawingml/2006/main">
              <a:ext uri="{FF2B5EF4-FFF2-40B4-BE49-F238E27FC236}">
                <a16:creationId xmlns:a16="http://schemas.microsoft.com/office/drawing/2014/main" id="{5A95CBA2-1020-42D9-8840-D4A884BC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1993392"/>
            <a:ext cx="39319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sz="100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A user gets a spoken/haptic warning before reaching a visible obstacle, instead of relying on noticing it themselves.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9824250" name="Google Shape;242;p6">
            <a:extLst xmlns:a="http://schemas.openxmlformats.org/drawingml/2006/main">
              <a:ext uri="{FF2B5EF4-FFF2-40B4-BE49-F238E27FC236}">
                <a16:creationId xmlns:a16="http://schemas.microsoft.com/office/drawing/2014/main" id="{EECD2BC5-39A7-440D-BAD2-875E6A0B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569464"/>
            <a:ext cx="4370832" cy="1152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63500" dir="2700000" algn="bl" rotWithShape="0">
              <a:srgbClr val="FF3D1F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574519" name="Google Shape;243;p6">
            <a:extLst xmlns:a="http://schemas.openxmlformats.org/drawingml/2006/main">
              <a:ext uri="{FF2B5EF4-FFF2-40B4-BE49-F238E27FC236}">
                <a16:creationId xmlns:a16="http://schemas.microsoft.com/office/drawing/2014/main" id="{30A5802D-DB40-460C-B25B-3C9689B9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2770632"/>
            <a:ext cx="34747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4076372" name="Google Shape;244;p6">
            <a:extLst xmlns:a="http://schemas.openxmlformats.org/drawingml/2006/main">
              <a:ext uri="{FF2B5EF4-FFF2-40B4-BE49-F238E27FC236}">
                <a16:creationId xmlns:a16="http://schemas.microsoft.com/office/drawing/2014/main" id="{2E8471EA-0E7F-41B3-B149-9BD74D13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27797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sz="13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72959441" name="Google Shape;245;p6">
            <a:extLst xmlns:a="http://schemas.openxmlformats.org/drawingml/2006/main">
              <a:ext uri="{FF2B5EF4-FFF2-40B4-BE49-F238E27FC236}">
                <a16:creationId xmlns:a16="http://schemas.microsoft.com/office/drawing/2014/main" id="{193FEA60-9492-4D46-9E3D-F9030838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34056"/>
            <a:ext cx="345643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sz="105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WHO ELSE COULD USE 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3857784" name="Google Shape;246;p6">
            <a:extLst xmlns:a="http://schemas.openxmlformats.org/drawingml/2006/main">
              <a:ext uri="{FF2B5EF4-FFF2-40B4-BE49-F238E27FC236}">
                <a16:creationId xmlns:a16="http://schemas.microsoft.com/office/drawing/2014/main" id="{733B161C-7681-4ABB-A1F0-084A50A1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3264408"/>
            <a:ext cx="39319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sz="100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Campus accessibility &amp; facilities teams, event organisers, and warehouse/industrial safety teams.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5496483" name="Google Shape;247;p6">
            <a:extLst xmlns:a="http://schemas.openxmlformats.org/drawingml/2006/main">
              <a:ext uri="{FF2B5EF4-FFF2-40B4-BE49-F238E27FC236}">
                <a16:creationId xmlns:a16="http://schemas.microsoft.com/office/drawing/2014/main" id="{B3FCEA53-C73B-412A-AAA1-1F41389B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840480"/>
            <a:ext cx="4370832" cy="1152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63500" dir="2700000" algn="bl" rotWithShape="0">
              <a:srgbClr val="FF3D1F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8596508" name="Google Shape;248;p6">
            <a:extLst xmlns:a="http://schemas.openxmlformats.org/drawingml/2006/main">
              <a:ext uri="{FF2B5EF4-FFF2-40B4-BE49-F238E27FC236}">
                <a16:creationId xmlns:a16="http://schemas.microsoft.com/office/drawing/2014/main" id="{84EFD8F5-3D42-4EF3-88AA-0C58A4C1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4041648"/>
            <a:ext cx="34747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196864" name="Google Shape;249;p6">
            <a:extLst xmlns:a="http://schemas.openxmlformats.org/drawingml/2006/main">
              <a:ext uri="{FF2B5EF4-FFF2-40B4-BE49-F238E27FC236}">
                <a16:creationId xmlns:a16="http://schemas.microsoft.com/office/drawing/2014/main" id="{938F1DA5-CCB1-433A-B3D2-19FE7644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405079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sz="13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4426829" name="Google Shape;250;p6">
            <a:extLst xmlns:a="http://schemas.openxmlformats.org/drawingml/2006/main">
              <a:ext uri="{FF2B5EF4-FFF2-40B4-BE49-F238E27FC236}">
                <a16:creationId xmlns:a16="http://schemas.microsoft.com/office/drawing/2014/main" id="{E706B683-45FC-4B00-B5B7-5B84C1DF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05072"/>
            <a:ext cx="345643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sz="105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WHAT COULD GO WRONG / BE MISUSED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2349667" name="Google Shape;251;p6">
            <a:extLst xmlns:a="http://schemas.openxmlformats.org/drawingml/2006/main">
              <a:ext uri="{FF2B5EF4-FFF2-40B4-BE49-F238E27FC236}">
                <a16:creationId xmlns:a16="http://schemas.microsoft.com/office/drawing/2014/main" id="{CF665186-EF74-417F-BF60-2FD68415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4535424"/>
            <a:ext cx="39319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sz="100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A user could over-trust cautious guidance as a safety guarantee, or frequent warnings near normal furniture could cause alert fatigue and get ignored.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4104411" name="Google Shape;252;p6">
            <a:extLst xmlns:a="http://schemas.openxmlformats.org/drawingml/2006/main">
              <a:ext uri="{FF2B5EF4-FFF2-40B4-BE49-F238E27FC236}">
                <a16:creationId xmlns:a16="http://schemas.microsoft.com/office/drawing/2014/main" id="{731473FF-91DB-4334-B91C-65F45820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11496"/>
            <a:ext cx="4370832" cy="1152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63500" dir="2700000" algn="bl" rotWithShape="0">
              <a:srgbClr val="FF3D1F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396617" name="Google Shape;253;p6">
            <a:extLst xmlns:a="http://schemas.openxmlformats.org/drawingml/2006/main">
              <a:ext uri="{FF2B5EF4-FFF2-40B4-BE49-F238E27FC236}">
                <a16:creationId xmlns:a16="http://schemas.microsoft.com/office/drawing/2014/main" id="{02C7F709-5ACA-4C5E-9106-A9400CC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5312664"/>
            <a:ext cx="347472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950740" name="Google Shape;254;p6">
            <a:extLst xmlns:a="http://schemas.openxmlformats.org/drawingml/2006/main">
              <a:ext uri="{FF2B5EF4-FFF2-40B4-BE49-F238E27FC236}">
                <a16:creationId xmlns:a16="http://schemas.microsoft.com/office/drawing/2014/main" id="{12765E22-2ECD-40DE-8406-5DF8C7C3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53218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sz="13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7794931" name="Google Shape;255;p6">
            <a:extLst xmlns:a="http://schemas.openxmlformats.org/drawingml/2006/main">
              <a:ext uri="{FF2B5EF4-FFF2-40B4-BE49-F238E27FC236}">
                <a16:creationId xmlns:a16="http://schemas.microsoft.com/office/drawing/2014/main" id="{7EAA17E6-6F05-40C4-9BF0-16F48879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276088"/>
            <a:ext cx="345643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sz="105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HOW YOU'D HANDLE THAT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2698110" name="Google Shape;256;p6">
            <a:extLst xmlns:a="http://schemas.openxmlformats.org/drawingml/2006/main">
              <a:ext uri="{FF2B5EF4-FFF2-40B4-BE49-F238E27FC236}">
                <a16:creationId xmlns:a16="http://schemas.microsoft.com/office/drawing/2014/main" id="{D7D9082D-73E1-4E60-8C6A-E9ED8FF7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5806440"/>
            <a:ext cx="393192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sz="100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PAUSE_UNCLEAR instead of guessing, hysteresis to cut noisy alerts, onboarding that DRISHTI assists, not replaces.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55971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87205608" name="Google Shape;262;p7">
            <a:extLst xmlns:a="http://schemas.openxmlformats.org/drawingml/2006/main">
              <a:ext uri="{FF2B5EF4-FFF2-40B4-BE49-F238E27FC236}">
                <a16:creationId xmlns:a16="http://schemas.microsoft.com/office/drawing/2014/main" id="{F2620BDD-0DD2-4BB4-9979-0FC3FA0A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87205611" name="Google Shape;263;p7"/>
          <p:cNvCxnSpPr/>
          <p:nvPr/>
        </p:nvCxnSpPr>
        <p:spPr>
          <a:xfrm xmlns:a="http://schemas.openxmlformats.org/drawingml/2006/main">
            <a:off x="694944" y="274320"/>
            <a:ext cx="0" cy="29260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7205612" name="Google Shape;264;p7"/>
          <p:cNvCxnSpPr/>
          <p:nvPr/>
        </p:nvCxnSpPr>
        <p:spPr>
          <a:xfrm xmlns:a="http://schemas.openxmlformats.org/drawingml/2006/main">
            <a:off x="694944" y="420624"/>
            <a:ext cx="146304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9438616" name="Google Shape;265;p7">
            <a:extLst xmlns:a="http://schemas.openxmlformats.org/drawingml/2006/main">
              <a:ext uri="{FF2B5EF4-FFF2-40B4-BE49-F238E27FC236}">
                <a16:creationId xmlns:a16="http://schemas.microsoft.com/office/drawing/2014/main" id="{918962E4-A786-49C3-B1BA-3E526792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29184"/>
            <a:ext cx="38404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sz="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6651421" name="Google Shape;266;p7">
            <a:extLst xmlns:a="http://schemas.openxmlformats.org/drawingml/2006/main">
              <a:ext uri="{FF2B5EF4-FFF2-40B4-BE49-F238E27FC236}">
                <a16:creationId xmlns:a16="http://schemas.microsoft.com/office/drawing/2014/main" id="{AA573E8E-C18B-4FB1-976C-7FD3B950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37744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635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7522598" name="Google Shape;267;p7">
            <a:extLst xmlns:a="http://schemas.openxmlformats.org/drawingml/2006/main">
              <a:ext uri="{FF2B5EF4-FFF2-40B4-BE49-F238E27FC236}">
                <a16:creationId xmlns:a16="http://schemas.microsoft.com/office/drawing/2014/main" id="{DB20A5ED-DD96-401E-81CB-4977816F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46888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sz="17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07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087205616" name="Google Shape;268;p7"/>
          <p:cNvCxnSpPr/>
          <p:nvPr/>
        </p:nvCxnSpPr>
        <p:spPr>
          <a:xfrm xmlns:a="http://schemas.openxmlformats.org/drawingml/2006/main">
            <a:off x="548640" y="6455664"/>
            <a:ext cx="1109441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6495998" name="Google Shape;269;p7">
            <a:extLst xmlns:a="http://schemas.openxmlformats.org/drawingml/2006/main">
              <a:ext uri="{FF2B5EF4-FFF2-40B4-BE49-F238E27FC236}">
                <a16:creationId xmlns:a16="http://schemas.microsoft.com/office/drawing/2014/main" id="{E4F7B5DC-697E-4F6A-8195-FE4C31E0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47104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2018784" name="Google Shape;270;p7">
            <a:extLst xmlns:a="http://schemas.openxmlformats.org/drawingml/2006/main">
              <a:ext uri="{FF2B5EF4-FFF2-40B4-BE49-F238E27FC236}">
                <a16:creationId xmlns:a16="http://schemas.microsoft.com/office/drawing/2014/main" id="{42946033-000F-48D6-A8CB-E9CC3F24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855" y="6547104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FRAME 07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9811319" name="Google Shape;271;p7">
            <a:extLst xmlns:a="http://schemas.openxmlformats.org/drawingml/2006/main">
              <a:ext uri="{FF2B5EF4-FFF2-40B4-BE49-F238E27FC236}">
                <a16:creationId xmlns:a16="http://schemas.microsoft.com/office/drawing/2014/main" id="{C6CFC49E-9841-4068-AF44-14ED252D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sz="30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REFERENCES &amp; ATTRIBUTION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7318256" name="Google Shape;272;p7">
            <a:extLst xmlns:a="http://schemas.openxmlformats.org/drawingml/2006/main">
              <a:ext uri="{FF2B5EF4-FFF2-40B4-BE49-F238E27FC236}">
                <a16:creationId xmlns:a16="http://schemas.microsoft.com/office/drawing/2014/main" id="{C3754804-5728-4908-B3BE-47709787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9692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sz="100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one source per line · uncredited work is disqualifying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0101861" name="Google Shape;273;p7">
            <a:extLst xmlns:a="http://schemas.openxmlformats.org/drawingml/2006/main">
              <a:ext uri="{FF2B5EF4-FFF2-40B4-BE49-F238E27FC236}">
                <a16:creationId xmlns:a16="http://schemas.microsoft.com/office/drawing/2014/main" id="{2DBAF6A5-9E3A-47BD-8879-AE8F57E4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TABLE 07-A — SOURCES &amp; LICENCES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420993" name="Google Shape;274;p7">
            <a:extLst xmlns:a="http://schemas.openxmlformats.org/drawingml/2006/main">
              <a:ext uri="{FF2B5EF4-FFF2-40B4-BE49-F238E27FC236}">
                <a16:creationId xmlns:a16="http://schemas.microsoft.com/office/drawing/2014/main" id="{0E25D39F-4BAF-4188-B81D-6FA74CC2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478024"/>
            <a:ext cx="11091672" cy="3346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087205623" name="Google Shape;275;p7"/>
          <p:cNvGraphicFramePr/>
          <p:nvPr/>
        </p:nvGraphicFramePr>
        <p:xfrm>
          <a:off xmlns:a="http://schemas.openxmlformats.org/drawingml/2006/main" x="548640" y="2395728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{D47496C2-0CEE-4B0A-BE6E-AE1266184CF1}</a:tableStyleId>
              </a:tblPr>
              <a:tblGrid>
                <a:gridCol w="1554475"/>
                <a:gridCol w="3291850"/>
                <a:gridCol w="2651750"/>
                <a:gridCol w="2103125"/>
                <a:gridCol w="1490474"/>
              </a:tblGrid>
              <a:tr h="4206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sz="900" u="none" cap="non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TYPE</a:t>
                      </a:r>
                      <a:endParaRPr sz="9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45725" marB="4572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sz="900" u="none" cap="non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SOURCE (AUTHOR, TITLE, YEAR)</a:t>
                      </a:r>
                      <a:endParaRPr sz="9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45725" marB="4572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sz="900" u="none" cap="non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WHAT IT GAVE YOU</a:t>
                      </a:r>
                      <a:endParaRPr sz="9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45725" marB="4572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sz="900" u="none" cap="non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BORROWED / YOURS</a:t>
                      </a:r>
                      <a:endParaRPr sz="9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45725" marB="4572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sz="900" u="none" cap="non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LICENCE</a:t>
                      </a:r>
                      <a:endParaRPr sz="9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45725" marB="4572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111111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sz="1000" u="none" cap="non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Paper</a:t>
                      </a:r>
                      <a:endParaRPr sz="10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Xie et al., “SegFormer: Simple &amp; Efficient Design for Semantic Segmentation with Transformers,” NeurIPS 2021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Segmentation architecture behind our indoor walkable / wall / obstruction corridor model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Borrowed (architecture + pretrained weights)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NVIDIA Source Code License (non-commercial)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sz="1000" u="none" cap="non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Repository</a:t>
                      </a:r>
                      <a:endParaRPr sz="10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Ultralytics YOLO11 (github.com/ultralytics/ultralytics)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Real-time object detector (YOLO11n) for person / chair / bag / desk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Borrowed (framework + pretrained weights)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AGPL-3.0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sz="1000" u="none" cap="non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Documentation</a:t>
                      </a:r>
                      <a:endParaRPr sz="10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FastAPI official docs (fastapi.tiangolo.com)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REST API framework powering the local backend &amp; AccessOps endpoints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Borrowed (framework)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MIT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sz="1000" u="none" cap="non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Dataset</a:t>
                      </a:r>
                      <a:endParaRPr sz="10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COCO (pretraining data behind the YOLO11n checkpoint)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Underlying training data for the indoor obstacle labels used by the pretrained checkpoint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Borrowed (pretrained weights only)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CC BY 4.0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sz="1000" u="none" cap="non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Model weights</a:t>
                      </a:r>
                      <a:endParaRPr sz="10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Tesseract OCR 5 (github.com/tesseract-ocr/tesseract)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On-demand English text / sign reading; local VLM supports user-triggered visual questions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Borrowed (engine)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Apache-2.0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4367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8368578" name="Google Shape;281;p8">
            <a:extLst xmlns:a="http://schemas.openxmlformats.org/drawingml/2006/main">
              <a:ext uri="{FF2B5EF4-FFF2-40B4-BE49-F238E27FC236}">
                <a16:creationId xmlns:a16="http://schemas.microsoft.com/office/drawing/2014/main" id="{AB2F11D7-4D0C-46FC-A381-AD5C7F02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81723601" name="Google Shape;282;p8"/>
          <p:cNvCxnSpPr/>
          <p:nvPr/>
        </p:nvCxnSpPr>
        <p:spPr>
          <a:xfrm xmlns:a="http://schemas.openxmlformats.org/drawingml/2006/main">
            <a:off x="694944" y="274320"/>
            <a:ext cx="0" cy="29260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81723602" name="Google Shape;283;p8"/>
          <p:cNvCxnSpPr/>
          <p:nvPr/>
        </p:nvCxnSpPr>
        <p:spPr>
          <a:xfrm xmlns:a="http://schemas.openxmlformats.org/drawingml/2006/main">
            <a:off x="694944" y="420624"/>
            <a:ext cx="146304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8314564" name="Google Shape;284;p8">
            <a:extLst xmlns:a="http://schemas.openxmlformats.org/drawingml/2006/main">
              <a:ext uri="{FF2B5EF4-FFF2-40B4-BE49-F238E27FC236}">
                <a16:creationId xmlns:a16="http://schemas.microsoft.com/office/drawing/2014/main" id="{C9A4EFB9-A7E6-4B1F-B266-75BF0DC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29184"/>
            <a:ext cx="38404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sz="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1842910" name="Google Shape;285;p8">
            <a:extLst xmlns:a="http://schemas.openxmlformats.org/drawingml/2006/main">
              <a:ext uri="{FF2B5EF4-FFF2-40B4-BE49-F238E27FC236}">
                <a16:creationId xmlns:a16="http://schemas.microsoft.com/office/drawing/2014/main" id="{7BC68312-FBF3-46CE-ABB3-40962116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37744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635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881368" name="Google Shape;286;p8">
            <a:extLst xmlns:a="http://schemas.openxmlformats.org/drawingml/2006/main">
              <a:ext uri="{FF2B5EF4-FFF2-40B4-BE49-F238E27FC236}">
                <a16:creationId xmlns:a16="http://schemas.microsoft.com/office/drawing/2014/main" id="{E6C2F5BA-33D0-49CF-A7FC-7362B71B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46888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sz="17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08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981723606" name="Google Shape;287;p8"/>
          <p:cNvCxnSpPr/>
          <p:nvPr/>
        </p:nvCxnSpPr>
        <p:spPr>
          <a:xfrm xmlns:a="http://schemas.openxmlformats.org/drawingml/2006/main">
            <a:off x="548640" y="6455664"/>
            <a:ext cx="1109441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0625229" name="Google Shape;288;p8">
            <a:extLst xmlns:a="http://schemas.openxmlformats.org/drawingml/2006/main">
              <a:ext uri="{FF2B5EF4-FFF2-40B4-BE49-F238E27FC236}">
                <a16:creationId xmlns:a16="http://schemas.microsoft.com/office/drawing/2014/main" id="{E0090168-56BA-4DE7-8129-E90211F0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47104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1173121" name="Google Shape;289;p8">
            <a:extLst xmlns:a="http://schemas.openxmlformats.org/drawingml/2006/main">
              <a:ext uri="{FF2B5EF4-FFF2-40B4-BE49-F238E27FC236}">
                <a16:creationId xmlns:a16="http://schemas.microsoft.com/office/drawing/2014/main" id="{C84D983B-2240-451A-8D45-0E056CE9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855" y="6547104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FRAME 08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0810582" name="Google Shape;290;p8">
            <a:extLst xmlns:a="http://schemas.openxmlformats.org/drawingml/2006/main">
              <a:ext uri="{FF2B5EF4-FFF2-40B4-BE49-F238E27FC236}">
                <a16:creationId xmlns:a16="http://schemas.microsoft.com/office/drawing/2014/main" id="{B2614C70-869D-4617-B4A0-0F069919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sz="30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EXTRA SLIDE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0735847" name="Google Shape;291;p8">
            <a:extLst xmlns:a="http://schemas.openxmlformats.org/drawingml/2006/main">
              <a:ext uri="{FF2B5EF4-FFF2-40B4-BE49-F238E27FC236}">
                <a16:creationId xmlns:a16="http://schemas.microsoft.com/office/drawing/2014/main" id="{0D58A70F-8B3E-45F0-9824-B397D82E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091672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1016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631454" name="Google Shape;292;p8">
            <a:extLst xmlns:a="http://schemas.openxmlformats.org/drawingml/2006/main">
              <a:ext uri="{FF2B5EF4-FFF2-40B4-BE49-F238E27FC236}">
                <a16:creationId xmlns:a16="http://schemas.microsoft.com/office/drawing/2014/main" id="{0417BAF6-3497-43F5-A29D-D3914313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94560"/>
            <a:ext cx="68580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sz="100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FIG. 08-A - WALK MODE OVERLAY (LIVE INDOOR TEST RUN)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2678572" name="Google Shape;293;p8">
            <a:extLst xmlns:a="http://schemas.openxmlformats.org/drawingml/2006/main">
              <a:ext uri="{FF2B5EF4-FFF2-40B4-BE49-F238E27FC236}">
                <a16:creationId xmlns:a16="http://schemas.microsoft.com/office/drawing/2014/main" id="{FD4DFF03-6364-42C0-868D-D9DA8D69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321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81723613" name="Google Shape;294;p8"/>
          <p:cNvCxnSpPr/>
          <p:nvPr/>
        </p:nvCxnSpPr>
        <p:spPr>
          <a:xfrm xmlns:a="http://schemas.openxmlformats.org/drawingml/2006/main">
            <a:off x="1060704" y="5532120"/>
            <a:ext cx="0" cy="38404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81723614" name="Google Shape;295;p8"/>
          <p:cNvCxnSpPr/>
          <p:nvPr/>
        </p:nvCxnSpPr>
        <p:spPr>
          <a:xfrm xmlns:a="http://schemas.openxmlformats.org/drawingml/2006/main">
            <a:off x="1060704" y="5724144"/>
            <a:ext cx="192024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1834358" name="Google Shape;298;p8">
            <a:extLst xmlns:a="http://schemas.openxmlformats.org/drawingml/2006/main">
              <a:ext uri="{FF2B5EF4-FFF2-40B4-BE49-F238E27FC236}">
                <a16:creationId xmlns:a16="http://schemas.microsoft.com/office/drawing/2014/main" id="{B314BDFF-9357-422E-8146-683D3F63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000" y="2194560"/>
            <a:ext cx="3840312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Code &amp; demo: github.com/SparkleYR/DRISHTI</a:t>
            </a:r>
            <a:endParaRPr/>
          </a:p>
        </p:txBody>
      </p:sp>
      <p:pic>
        <p:nvPicPr>
          <p:cNvPr id="1981723616" name="Walk Mode overlay screenshot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14f195c71d4ca7"/>
          <a:stretch xmlns:a="http://schemas.openxmlformats.org/drawingml/2006/main"/>
        </p:blipFill>
        <p:spPr>
          <a:xfrm xmlns:a="http://schemas.openxmlformats.org/drawingml/2006/main">
            <a:off x="868680" y="2582304"/>
            <a:ext cx="1890900" cy="3300000"/>
          </a:xfrm>
          <a:prstGeom xmlns:a="http://schemas.openxmlformats.org/drawingml/2006/main" prst="rect">
            <a:avLst/>
          </a:prstGeom>
          <a:ln xmlns:a="http://schemas.openxmlformats.org/drawingml/2006/main" w="19050" cap="flat" cmpd="sng">
            <a:solidFill>
              <a:srgbClr val="111111"/>
            </a:solidFill>
            <a:prstDash val="solid"/>
          </a:ln>
        </p:spPr>
      </p:pic>
      <p:sp>
        <p:nvSpPr>
          <p:cNvPr id="776748144" name="Google Shape;300;p8">
            <a:extLst xmlns:a="http://schemas.openxmlformats.org/drawingml/2006/main">
              <a:ext uri="{FF2B5EF4-FFF2-40B4-BE49-F238E27FC236}">
                <a16:creationId xmlns:a16="http://schemas.microsoft.com/office/drawing/2014/main" id="{32C6C6B9-85FB-4D27-A997-32FAF32B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00" y="2582304"/>
            <a:ext cx="8100000" cy="3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Aft>
                <a:spcPts val="600"/>
              </a:spcAft>
              <a:buNone/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real screenshot from the indoor Hall Obstacle Course - not a mockup.</a:t>
            </a:r>
            <a:endParaRPr/>
          </a:p>
          <a:p xmlns:a="http://schemas.openxmlformats.org/drawingml/2006/main">
            <a:pPr marL="228600" lvl="0" indent="-228600" algn="l">
              <a:spcAft>
                <a:spcPts val="400"/>
              </a:spcAft>
              <a:buFont typeface="Arial"/>
              <a:buChar char="•"/>
            </a:pPr>
            <a:r>
              <a:rPr sz="1100">
                <a:solidFill>
                  <a:srgbClr val="111111"/>
                </a:solidFill>
                <a:latin typeface="Arial"/>
                <a:ea typeface="Arial"/>
                <a:cs typeface="Arial"/>
              </a:rPr>
              <a:t>Yellow boxes: YOLO11n detects person, chair, bag and desk obstacles</a:t>
            </a:r>
            <a:endParaRPr/>
          </a:p>
          <a:p xmlns:a="http://schemas.openxmlformats.org/drawingml/2006/main">
            <a:pPr marL="228600" lvl="0" indent="-228600" algn="l">
              <a:spcAft>
                <a:spcPts val="400"/>
              </a:spcAft>
              <a:buFont typeface="Arial"/>
              <a:buChar char="•"/>
            </a:pPr>
            <a:r>
              <a:rPr sz="1100">
                <a:solidFill>
                  <a:srgbClr val="111111"/>
                </a:solidFill>
                <a:latin typeface="Arial"/>
                <a:ea typeface="Arial"/>
                <a:cs typeface="Arial"/>
              </a:rPr>
              <a:t>Coloured overlay: SegFormer-B0 identifies walkable surface, walls and corridor clearance</a:t>
            </a:r>
            <a:endParaRPr/>
          </a:p>
          <a:p xmlns:a="http://schemas.openxmlformats.org/drawingml/2006/main">
            <a:pPr marL="228600" lvl="0" indent="-228600" algn="l">
              <a:spcAft>
                <a:spcPts val="600"/>
              </a:spcAft>
              <a:buFont typeface="Arial"/>
              <a:buChar char="•"/>
            </a:pPr>
            <a:r>
              <a:rPr sz="1100">
                <a:solidFill>
                  <a:srgbClr val="111111"/>
                </a:solidFill>
                <a:latin typeface="Arial"/>
                <a:ea typeface="Arial"/>
                <a:cs typeface="Arial"/>
              </a:rPr>
              <a:t>Bottom panel: live telemetry shows frame timing, corridor score and the cautious guidance state</a:t>
            </a:r>
            <a:endParaRPr/>
          </a:p>
          <a:p xmlns:a="http://schemas.openxmlformats.org/drawingml/2006/main">
            <a:pPr marL="0" marR="0" lvl="0" indent="0" algn="l">
              <a:buNone/>
            </a:pPr>
            <a:r>
              <a:rPr sz="105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OCR and the local VLM run only when the user explicitly enters Explore Mode</a:t>
            </a:r>
            <a:endParaRPr/>
          </a:p>
          <a:p xmlns:a="http://schemas.openxmlformats.org/drawingml/2006/main">
            <a:pPr marL="0" marR="0" lvl="0" indent="0" algn="l">
              <a:buNone/>
            </a:pPr>
            <a:r>
              <a:rPr sz="1050" i="1">
                <a:solidFill>
                  <a:srgbClr val="6E6A5E"/>
                </a:solidFill>
                <a:latin typeface="Arial"/>
                <a:ea typeface="Arial"/>
                <a:cs typeface="Arial"/>
              </a:rPr>
              <a:t>Shown as captured - including an uncertain frame - so the safety behaviour is honest, not cherry-picked.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8281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00598406" name="Google Shape;303;p9">
            <a:extLst xmlns:a="http://schemas.openxmlformats.org/drawingml/2006/main">
              <a:ext uri="{FF2B5EF4-FFF2-40B4-BE49-F238E27FC236}">
                <a16:creationId xmlns:a16="http://schemas.microsoft.com/office/drawing/2014/main" id="{FF761A74-1C9B-4967-889C-A20F3798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14754234" name="Google Shape;304;p9"/>
          <p:cNvCxnSpPr/>
          <p:nvPr/>
        </p:nvCxnSpPr>
        <p:spPr>
          <a:xfrm xmlns:a="http://schemas.openxmlformats.org/drawingml/2006/main">
            <a:off x="694944" y="274320"/>
            <a:ext cx="0" cy="292608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4754235" name="Google Shape;305;p9"/>
          <p:cNvCxnSpPr/>
          <p:nvPr/>
        </p:nvCxnSpPr>
        <p:spPr>
          <a:xfrm xmlns:a="http://schemas.openxmlformats.org/drawingml/2006/main">
            <a:off x="694944" y="420624"/>
            <a:ext cx="146304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6415783" name="Google Shape;306;p9">
            <a:extLst xmlns:a="http://schemas.openxmlformats.org/drawingml/2006/main">
              <a:ext uri="{FF2B5EF4-FFF2-40B4-BE49-F238E27FC236}">
                <a16:creationId xmlns:a16="http://schemas.microsoft.com/office/drawing/2014/main" id="{9766E81A-B883-4C73-8CA3-04C20805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29184"/>
            <a:ext cx="384048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sz="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1519318" name="Google Shape;307;p9">
            <a:extLst xmlns:a="http://schemas.openxmlformats.org/drawingml/2006/main">
              <a:ext uri="{FF2B5EF4-FFF2-40B4-BE49-F238E27FC236}">
                <a16:creationId xmlns:a16="http://schemas.microsoft.com/office/drawing/2014/main" id="{75A85924-527E-46AE-935A-CDAB52A5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37744"/>
            <a:ext cx="6217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D1F"/>
          </a:solidFill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01600" dist="63500" dir="2700000" algn="bl" rotWithShape="0">
              <a:srgbClr val="111111"/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4754231" name="Google Shape;308;p9">
            <a:extLst xmlns:a="http://schemas.openxmlformats.org/drawingml/2006/main">
              <a:ext uri="{FF2B5EF4-FFF2-40B4-BE49-F238E27FC236}">
                <a16:creationId xmlns:a16="http://schemas.microsoft.com/office/drawing/2014/main" id="{BDB5DF21-3B33-4DC3-998D-06FC9F46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10972800" y="246888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sz="17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09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14754239" name="Google Shape;309;p9"/>
          <p:cNvCxnSpPr/>
          <p:nvPr/>
        </p:nvCxnSpPr>
        <p:spPr>
          <a:xfrm xmlns:a="http://schemas.openxmlformats.org/drawingml/2006/main">
            <a:off x="548640" y="6455664"/>
            <a:ext cx="1109441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0837653" name="Google Shape;310;p9">
            <a:extLst xmlns:a="http://schemas.openxmlformats.org/drawingml/2006/main">
              <a:ext uri="{FF2B5EF4-FFF2-40B4-BE49-F238E27FC236}">
                <a16:creationId xmlns:a16="http://schemas.microsoft.com/office/drawing/2014/main" id="{931A1CDE-3678-47A3-B20C-11010F7A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47104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6815461" name="Google Shape;311;p9">
            <a:extLst xmlns:a="http://schemas.openxmlformats.org/drawingml/2006/main">
              <a:ext uri="{FF2B5EF4-FFF2-40B4-BE49-F238E27FC236}">
                <a16:creationId xmlns:a16="http://schemas.microsoft.com/office/drawing/2014/main" id="{716C66AD-8EE7-496B-8CC8-F32E8039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855" y="6547104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FRAME 09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3143609" name="Google Shape;312;p9">
            <a:extLst xmlns:a="http://schemas.openxmlformats.org/drawingml/2006/main">
              <a:ext uri="{FF2B5EF4-FFF2-40B4-BE49-F238E27FC236}">
                <a16:creationId xmlns:a16="http://schemas.microsoft.com/office/drawing/2014/main" id="{2BBE7E13-94E5-43C2-841C-7695F396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3268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sz="30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TEAM &amp; CONTACT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70010" name="Google Shape;313;p9">
            <a:extLst xmlns:a="http://schemas.openxmlformats.org/drawingml/2006/main">
              <a:ext uri="{FF2B5EF4-FFF2-40B4-BE49-F238E27FC236}">
                <a16:creationId xmlns:a16="http://schemas.microsoft.com/office/drawing/2014/main" id="{35EB92DF-DE9C-4E2C-8483-FCAE398C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969264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sz="100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one line per member · so organisers can reach you after submission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9880382" name="Google Shape;314;p9">
            <a:extLst xmlns:a="http://schemas.openxmlformats.org/drawingml/2006/main">
              <a:ext uri="{FF2B5EF4-FFF2-40B4-BE49-F238E27FC236}">
                <a16:creationId xmlns:a16="http://schemas.microsoft.com/office/drawing/2014/main" id="{3DB2D2E4-2D5D-4B2A-9660-3181400E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83664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sz="170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Hallucinators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3681420" name="Google Shape;315;p9">
            <a:extLst xmlns:a="http://schemas.openxmlformats.org/drawingml/2006/main">
              <a:ext uri="{FF2B5EF4-FFF2-40B4-BE49-F238E27FC236}">
                <a16:creationId xmlns:a16="http://schemas.microsoft.com/office/drawing/2014/main" id="{35E3974F-CDE2-4F83-B506-8FFB61DB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40864"/>
            <a:ext cx="548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sz="850">
                <a:solidFill>
                  <a:srgbClr val="6E6A5E"/>
                </a:solidFill>
                <a:latin typeface="Courier New"/>
                <a:ea typeface="Courier New"/>
                <a:cs typeface="Courier New"/>
              </a:rPr>
              <a:t>TABLE 09-A — TEAM CONTACT SHEET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0231161" name="Google Shape;316;p9">
            <a:extLst xmlns:a="http://schemas.openxmlformats.org/drawingml/2006/main">
              <a:ext uri="{FF2B5EF4-FFF2-40B4-BE49-F238E27FC236}">
                <a16:creationId xmlns:a16="http://schemas.microsoft.com/office/drawing/2014/main" id="{2A34B11D-3385-49A0-A691-AFD5DADA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679192"/>
            <a:ext cx="11091672" cy="314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114754247" name="Google Shape;317;p9"/>
          <p:cNvGraphicFramePr/>
          <p:nvPr/>
        </p:nvGraphicFramePr>
        <p:xfrm>
          <a:off xmlns:a="http://schemas.openxmlformats.org/drawingml/2006/main" x="548640" y="2596896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{D47496C2-0CEE-4B0A-BE6E-AE1266184CF1}</a:tableStyleId>
              </a:tblPr>
              <a:tblGrid>
                <a:gridCol w="2926075"/>
                <a:gridCol w="2743200"/>
                <a:gridCol w="5422400"/>
              </a:tblGrid>
              <a:tr h="4023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sz="900" u="none" cap="non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NAME</a:t>
                      </a:r>
                      <a:endParaRPr sz="9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45725" marB="4572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sz="900" u="none" cap="non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PHONE</a:t>
                      </a:r>
                      <a:endParaRPr sz="9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45725" marB="4572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sz="900" u="none" cap="non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EMAIL</a:t>
                      </a:r>
                      <a:endParaRPr sz="9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45725" marB="4572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11111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 Black"/>
                        <a:buNone/>
                      </a:pPr>
                      <a:r>
                        <a:rPr sz="1100" u="none" cap="non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Madhav Khurana</a:t>
                      </a:r>
                      <a:endParaRPr sz="11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9810728261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madhav.khurana2024@vitstudent.ac.in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 Black"/>
                        <a:buNone/>
                      </a:pPr>
                      <a:r>
                        <a:rPr sz="1100" u="none" cap="non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Yash Raj</a:t>
                      </a:r>
                      <a:endParaRPr sz="11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6204642647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yash.raj2024@vitstudent.ac.in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 Black"/>
                        <a:buNone/>
                      </a:pPr>
                      <a:r>
                        <a:rPr sz="1100" u="none" cap="non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</a:rPr>
                        <a:t>Aryan Raj</a:t>
                      </a:r>
                      <a:endParaRPr sz="1100" u="none" cap="none">
                        <a:latin typeface="Arial Black"/>
                        <a:ea typeface="Arial Black"/>
                        <a:cs typeface="Arial Black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8678833666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sz="1050" i="1" u="none" cap="non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</a:rPr>
                        <a:t>aryan.raj2024@vitstudent.ac.in</a:t>
                      </a:r>
                      <a:endParaRPr sz="1050" u="none" cap="none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73150" marT="36575" marB="36575" anchor="ctr">
                    <a:lnL w="19050">
                      <a:solidFill>
                        <a:srgbClr val="111111"/>
                      </a:solidFill>
                    </a:lnL>
                    <a:lnR w="19050">
                      <a:solidFill>
                        <a:srgbClr val="111111"/>
                      </a:solidFill>
                    </a:lnR>
                    <a:lnT w="19050">
                      <a:solidFill>
                        <a:srgbClr val="111111"/>
                      </a:solidFill>
                    </a:lnT>
                    <a:lnB w="19050">
                      <a:solidFill>
                        <a:srgbClr val="11111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3487877" name="Google Shape;318;p9">
            <a:extLst xmlns:a="http://schemas.openxmlformats.org/drawingml/2006/main">
              <a:ext uri="{FF2B5EF4-FFF2-40B4-BE49-F238E27FC236}">
                <a16:creationId xmlns:a16="http://schemas.microsoft.com/office/drawing/2014/main" id="{6A33B090-E7A6-490F-8736-915CD8D0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3070778" name="Google Shape;319;p9">
            <a:extLst xmlns:a="http://schemas.openxmlformats.org/drawingml/2006/main">
              <a:ext uri="{FF2B5EF4-FFF2-40B4-BE49-F238E27FC236}">
                <a16:creationId xmlns:a16="http://schemas.microsoft.com/office/drawing/2014/main" id="{50E4DEA5-9104-43F8-A9ED-E990B5FB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870448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 cmpd="sng">
            <a:solidFill>
              <a:srgbClr val="11111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14754250" name="Google Shape;320;p9"/>
          <p:cNvCxnSpPr/>
          <p:nvPr/>
        </p:nvCxnSpPr>
        <p:spPr>
          <a:xfrm xmlns:a="http://schemas.openxmlformats.org/drawingml/2006/main">
            <a:off x="11155680" y="5870448"/>
            <a:ext cx="0" cy="36576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4754251" name="Google Shape;321;p9"/>
          <p:cNvCxnSpPr/>
          <p:nvPr/>
        </p:nvCxnSpPr>
        <p:spPr>
          <a:xfrm xmlns:a="http://schemas.openxmlformats.org/drawingml/2006/main">
            <a:off x="11155680" y="6053328"/>
            <a:ext cx="18288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19774956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2026-09-03T12:58:15.0370000Z</dcterms:created>
  <dcterms:modified xsi:type="dcterms:W3CDTF">2026-09-03T12:58:15.0370000Z</dcterms:modified>
</coreProperties>
</file>